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C9D1D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C9D1D9"/>
                </a:solidFill>
                <a:latin typeface="Arial"/>
              </a:rPr>
              <a:t>mAP50-95 Değerleri (COCO val)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mAP50-95</c:v>
                </c:pt>
              </c:strCache>
            </c:strRef>
          </c:tx>
          <c:spPr>
            <a:solidFill>
              <a:srgbClr val="0FBC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C9D1D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YOLOv8n</c:v>
                  </c:pt>
                  <c:pt idx="1">
                    <c:v>YOLOv8s</c:v>
                  </c:pt>
                  <c:pt idx="2">
                    <c:v>YOLOv8m</c:v>
                  </c:pt>
                  <c:pt idx="3">
                    <c:v>YOLOv8l</c:v>
                  </c:pt>
                  <c:pt idx="4">
                    <c:v>YOLOv8x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37.3</c:v>
                </c:pt>
                <c:pt idx="1">
                  <c:v>44.9</c:v>
                </c:pt>
                <c:pt idx="2">
                  <c:v>50.2</c:v>
                </c:pt>
                <c:pt idx="3">
                  <c:v>52.9</c:v>
                </c:pt>
                <c:pt idx="4">
                  <c:v>53.9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C9D1D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0"/>
            <a:ext cx="2377440" cy="1280160"/>
          </a:xfrm>
          <a:prstGeom prst="rect">
            <a:avLst/>
          </a:prstGeom>
          <a:solidFill>
            <a:srgbClr val="0FBCCE">
              <a:alpha val="20000"/>
            </a:srgbClr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1325880"/>
            <a:ext cx="2377440" cy="1280160"/>
          </a:xfrm>
          <a:prstGeom prst="rect">
            <a:avLst/>
          </a:prstGeom>
          <a:solidFill>
            <a:srgbClr val="1A6FD8">
              <a:alpha val="20000"/>
            </a:srgbClr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2651760"/>
            <a:ext cx="2377440" cy="1280160"/>
          </a:xfrm>
          <a:prstGeom prst="rect">
            <a:avLst/>
          </a:prstGeom>
          <a:solidFill>
            <a:srgbClr val="7B52E8">
              <a:alpha val="20000"/>
            </a:srgbClr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3977640"/>
            <a:ext cx="2377440" cy="1170432"/>
          </a:xfrm>
          <a:prstGeom prst="rect">
            <a:avLst/>
          </a:prstGeom>
          <a:solidFill>
            <a:srgbClr val="E879A0">
              <a:alpha val="20000"/>
            </a:srgbClr>
          </a:solidFill>
          <a:ln w="12700">
            <a:solidFill>
              <a:srgbClr val="E879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Segmentasyon, Nesne Tespiti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0F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YOLO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Bilgisayarlı Görü · Derin Öğrenme · Gerçek Zamanlı Tespit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389888" cy="1554480"/>
          </a:xfrm>
          <a:prstGeom prst="rect">
            <a:avLst/>
          </a:prstGeom>
          <a:solidFill>
            <a:srgbClr val="112240"/>
          </a:solidFill>
          <a:ln w="19050">
            <a:solidFill>
              <a:srgbClr val="0FBC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19272"/>
            <a:ext cx="1389888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4178808"/>
            <a:ext cx="1389888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 Güncel Sürüm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21408" y="3246120"/>
            <a:ext cx="1389888" cy="1554480"/>
          </a:xfrm>
          <a:prstGeom prst="rect">
            <a:avLst/>
          </a:prstGeom>
          <a:solidFill>
            <a:srgbClr val="112240"/>
          </a:solidFill>
          <a:ln w="19050">
            <a:solidFill>
              <a:srgbClr val="1A6F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21408" y="3319272"/>
            <a:ext cx="1389888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160+ FPS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21408" y="4178808"/>
            <a:ext cx="1389888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Gerçek Zamanlı Tespit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02736" y="3246120"/>
            <a:ext cx="1389888" cy="1554480"/>
          </a:xfrm>
          <a:prstGeom prst="rect">
            <a:avLst/>
          </a:prstGeom>
          <a:solidFill>
            <a:srgbClr val="112240"/>
          </a:solidFill>
          <a:ln w="19050">
            <a:solidFill>
              <a:srgbClr val="7B5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3319272"/>
            <a:ext cx="1389888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mAP&gt;55%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02736" y="4178808"/>
            <a:ext cx="1389888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COCO Benchmark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84064" y="3246120"/>
            <a:ext cx="1389888" cy="1554480"/>
          </a:xfrm>
          <a:prstGeom prst="rect">
            <a:avLst/>
          </a:prstGeom>
          <a:solidFill>
            <a:srgbClr val="1122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84064" y="3319272"/>
            <a:ext cx="1389888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Tür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84064" y="4178808"/>
            <a:ext cx="1389888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Segmentasyon Türü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AI/ML Eğitim Serisi  ·  Bilgisayarlı Görü Modülü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Bilgisayarlı Görü — Görev Hiyerarşisi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77240"/>
            <a:ext cx="2084832" cy="4133088"/>
          </a:xfrm>
          <a:prstGeom prst="rect">
            <a:avLst/>
          </a:prstGeom>
          <a:solidFill>
            <a:srgbClr val="112240"/>
          </a:solidFill>
          <a:ln w="19050">
            <a:solidFill>
              <a:srgbClr val="10C9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77240"/>
            <a:ext cx="2084832" cy="256032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77724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Classification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7744" y="1069848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C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Sınıflandırma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6032" y="1481328"/>
            <a:ext cx="190195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Görüntünün tamamına tek etiket atar.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Çıktı: Sınıf adı + olasılık skoru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Model: ResNet, VGG, EfficientNet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Kısıt: Konum bilgisi yok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0" y="777240"/>
            <a:ext cx="2084832" cy="4133088"/>
          </a:xfrm>
          <a:prstGeom prst="rect">
            <a:avLst/>
          </a:prstGeom>
          <a:solidFill>
            <a:srgbClr val="112240"/>
          </a:solidFill>
          <a:ln w="19050">
            <a:solidFill>
              <a:srgbClr val="0FBC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777240"/>
            <a:ext cx="2084832" cy="256032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77724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Object Detection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50592" y="1069848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 Tespiti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468880" y="1481328"/>
            <a:ext cx="190195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Her nesne için bounding box + sınıf.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Çıktı: [x,y,w,h] + sınıf + güven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Model: YOLO, Faster R-CNN, SSD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Kısıt: Piksel düzeyinde değil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90288" y="777240"/>
            <a:ext cx="2084832" cy="4133088"/>
          </a:xfrm>
          <a:prstGeom prst="rect">
            <a:avLst/>
          </a:prstGeom>
          <a:solidFill>
            <a:srgbClr val="112240"/>
          </a:solidFill>
          <a:ln w="19050">
            <a:solidFill>
              <a:srgbClr val="1A6F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0288" y="777240"/>
            <a:ext cx="2084832" cy="256032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77724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Semantic Seg.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1069848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Semantik Segmentasyon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81728" y="1481328"/>
            <a:ext cx="190195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Her piksele sınıf atar (tek nesne yok).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Çıktı: Piksel maskesi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Model: FCN, DeepLab, U-Net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Kısıt: Aynı sınıf birbirinden ayrılmaz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03136" y="777240"/>
            <a:ext cx="2084832" cy="4133088"/>
          </a:xfrm>
          <a:prstGeom prst="rect">
            <a:avLst/>
          </a:prstGeom>
          <a:solidFill>
            <a:srgbClr val="112240"/>
          </a:solidFill>
          <a:ln w="19050">
            <a:solidFill>
              <a:srgbClr val="7B5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3136" y="777240"/>
            <a:ext cx="2084832" cy="256032"/>
          </a:xfrm>
          <a:prstGeom prst="rect">
            <a:avLst/>
          </a:prstGeom>
          <a:solidFill>
            <a:srgbClr val="7B52E8"/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77724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Instance Seg.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76288" y="1069848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Segmentasyon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94576" y="1481328"/>
            <a:ext cx="190195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Her nesne örneği ayrı maske alır.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Çıktı: Nesne maskesi + sınıf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Model: Mask R-CNN, YOLACT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Kısıt: Daha yüksek hesaplama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 Tespiti Temelleri — IoU · Anchor · NMS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04672"/>
            <a:ext cx="4206240" cy="2011680"/>
          </a:xfrm>
          <a:prstGeom prst="rect">
            <a:avLst/>
          </a:prstGeom>
          <a:solidFill>
            <a:srgbClr val="112240"/>
          </a:solidFill>
          <a:ln w="19050">
            <a:solidFill>
              <a:srgbClr val="1A6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— Intersection over Union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152144"/>
            <a:ext cx="393192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IoU = Alan(Kesişim) / Alan(Birleşim)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IoU ≥ 0.5  →  Zayıf eşleşme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IoU ≥ 0.75 →  İyi eşleşme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IoU = 1.0  →  Mükemmel eşleşme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True Positive (TP) için eşik genellikle 0.5 kullanılır.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04672"/>
            <a:ext cx="4389120" cy="2011680"/>
          </a:xfrm>
          <a:prstGeom prst="rect">
            <a:avLst/>
          </a:prstGeom>
          <a:solidFill>
            <a:srgbClr val="1122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8412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Box Kavramı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1152144"/>
            <a:ext cx="41148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Ön tanımlı referans kutulardır (aspect ratio + ölçek).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Model, anchor'a göre offset tahmin eder: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tx, ty → merkez kaydı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tw, th → boyut ölçeği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YOLO'da anchor-free (v8+) yaklaşım tercih edilir.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2944368"/>
            <a:ext cx="2834640" cy="1993392"/>
          </a:xfrm>
          <a:prstGeom prst="rect">
            <a:avLst/>
          </a:prstGeom>
          <a:solidFill>
            <a:srgbClr val="112240"/>
          </a:solidFill>
          <a:ln w="19050">
            <a:solidFill>
              <a:srgbClr val="10C9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944368"/>
            <a:ext cx="2834640" cy="219456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94436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Non-Maximum Suppression (NMS)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3200400"/>
            <a:ext cx="2651760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Çakışan kutulardan en yüksek güven skoruna sahip olanı tut, diğerlerini sil. IoU eşiği aşanlar bastırılır.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82112" y="2944368"/>
            <a:ext cx="2834640" cy="1993392"/>
          </a:xfrm>
          <a:prstGeom prst="rect">
            <a:avLst/>
          </a:prstGeom>
          <a:solidFill>
            <a:srgbClr val="112240"/>
          </a:solidFill>
          <a:ln w="19050">
            <a:solidFill>
              <a:srgbClr val="0FBC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2112" y="2944368"/>
            <a:ext cx="2834640" cy="219456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294436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73552" y="3200400"/>
            <a:ext cx="2651760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P(nesne var) × P(sınıf | nesne). Bu değer eşik altında kalan tespitler görmezden gelinir.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4768" y="2944368"/>
            <a:ext cx="2834640" cy="1993392"/>
          </a:xfrm>
          <a:prstGeom prst="rect">
            <a:avLst/>
          </a:prstGeom>
          <a:solidFill>
            <a:srgbClr val="112240"/>
          </a:solidFill>
          <a:ln w="19050">
            <a:solidFill>
              <a:srgbClr val="7B5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2944368"/>
            <a:ext cx="2834640" cy="219456"/>
          </a:xfrm>
          <a:prstGeom prst="rect">
            <a:avLst/>
          </a:prstGeom>
          <a:solidFill>
            <a:srgbClr val="7B52E8"/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294436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— mean Average Precision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36208" y="3200400"/>
            <a:ext cx="2651760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Her sınıf için AP hesaplanır, ardından ortalaması alınır. mAP@0.5 ve mAP@0.5:0.95 yaygın metriklerdir.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Aşamalı Detektörler — R-CNN Ailesi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7B52E8"/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7A88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77240"/>
            <a:ext cx="201168" cy="4160520"/>
          </a:xfrm>
          <a:prstGeom prst="rect">
            <a:avLst/>
          </a:prstGeom>
          <a:solidFill>
            <a:srgbClr val="7A8899"/>
          </a:solidFill>
          <a:ln w="12700">
            <a:solidFill>
              <a:srgbClr val="7A8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1381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  (2014)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088136"/>
            <a:ext cx="1755648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 Selective Search ile 2000 bölge öner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 Her bölgeyi CNN ile işle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 SVM ile sınıflandır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Hız: ~47 sn / görüntü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Sorun: Her bölge ayrı CNN → çok yavaş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77440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1A6F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777240"/>
            <a:ext cx="201168" cy="4160520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81381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R-CNN  (2015)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088136"/>
            <a:ext cx="1755648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 Görüntüyü tek CNN'den geçir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 RoI Pooling ile bölge özelliklerini çek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 FC katmanla sınıfla + regress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Hız: ~0.5 sn / görüntü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İyileştirme: Paylaşılan özellik haritası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90288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0FBCC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0288" y="777240"/>
            <a:ext cx="201168" cy="4160520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81381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 (2016)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1088136"/>
            <a:ext cx="1755648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 CNN özellik haritası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 Region Proposal Network (RPN)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 RoI Pooling + sınıflandırma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Hız: ~0.2 sn / görüntü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Yenilik: RPN öğrenilmiş bölge önerisi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03136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10C98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777240"/>
            <a:ext cx="201168" cy="4160520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7456" y="81381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C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 (2017)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77456" y="1088136"/>
            <a:ext cx="1755648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Faster R-CNN + FCN maskesi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Her RoI için piksel maskesi üretir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Instance Segmentation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Hız: ~5 FPS (GPU)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RoIAlign: Subpiksel hassasiyeti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919472"/>
            <a:ext cx="8229600" cy="0"/>
          </a:xfrm>
          <a:prstGeom prst="line">
            <a:avLst/>
          </a:prstGeom>
          <a:noFill/>
          <a:ln w="25400">
            <a:solidFill>
              <a:srgbClr val="1E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46320"/>
            <a:ext cx="2084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2014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0048" y="4846320"/>
            <a:ext cx="2084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2015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82896" y="4846320"/>
            <a:ext cx="2084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2016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95744" y="4846320"/>
            <a:ext cx="2084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Aşamalı Detektörler — SSD &amp; YOLO Ailesi Girişi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4206240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77240"/>
            <a:ext cx="42062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— Single Shot MultiBox Detector (2016)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Mimari: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VGG16 / MobileNet backbone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Çoklu ölçekte özellik haritaları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Her hücrede birden fazla anchor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Özellikler: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Tek geçiş (tek aşama)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59 FPS (300×300, GPU)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Küçük nesnelerde zayıf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Eğitim: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Hard negative mining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Multi-scale feature extraction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Smooth L1 konum kaybı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97680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0FBC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777240"/>
            <a:ext cx="4297680" cy="256032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7772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— You Only Look Once (2015)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00600" y="1078992"/>
            <a:ext cx="40233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Temel Fikir: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Görüntüyü S×S hücreye böl.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Her hücre B kutu + C sınıf tahmini yapar.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Çıktı Tensörü: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 × S × (B × 5 + 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YOLO v1: 7×7×(2×5+20) = 7×7×30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Avantajlar: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Gerçek zamanlı (45 FPS v1)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Bütünsel bağlam öğrenir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Kolay dağıtım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Kısıtlar (v1):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Küçük &amp; örtüşen nesnelerde zayıf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Hücre başı 1 nesne sınıfı sınırı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Evrimi — v1'den v10'a Tarihsel Yolculuk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77240"/>
            <a:ext cx="2084832" cy="2011680"/>
          </a:xfrm>
          <a:prstGeom prst="rect">
            <a:avLst/>
          </a:prstGeom>
          <a:solidFill>
            <a:srgbClr val="112240"/>
          </a:solidFill>
          <a:ln w="19050">
            <a:solidFill>
              <a:srgbClr val="7A88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77240"/>
            <a:ext cx="2084832" cy="219456"/>
          </a:xfrm>
          <a:prstGeom prst="rect">
            <a:avLst/>
          </a:prstGeom>
          <a:solidFill>
            <a:srgbClr val="7A8899"/>
          </a:solidFill>
          <a:ln w="12700">
            <a:solidFill>
              <a:srgbClr val="7A8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777240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v1  ·  2015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7744" y="103327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FPS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37744" y="1399032"/>
            <a:ext cx="193852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Grid tabanlı, tek geçiş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tespiti. Redmon et 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777240"/>
            <a:ext cx="2084832" cy="2011680"/>
          </a:xfrm>
          <a:prstGeom prst="rect">
            <a:avLst/>
          </a:prstGeom>
          <a:solidFill>
            <a:srgbClr val="112240"/>
          </a:solidFill>
          <a:ln w="19050">
            <a:solidFill>
              <a:srgbClr val="1E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777240"/>
            <a:ext cx="2084832" cy="219456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777240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v2  ·  2016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50592" y="103327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FPS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450592" y="1399032"/>
            <a:ext cx="193852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Anchor box, Batch Norm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Darknet-19 backbone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90288" y="777240"/>
            <a:ext cx="2084832" cy="2011680"/>
          </a:xfrm>
          <a:prstGeom prst="rect">
            <a:avLst/>
          </a:prstGeom>
          <a:solidFill>
            <a:srgbClr val="112240"/>
          </a:solidFill>
          <a:ln w="19050">
            <a:solidFill>
              <a:srgbClr val="1A6F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0288" y="777240"/>
            <a:ext cx="2084832" cy="219456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777240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v3  ·  2018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103327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FPS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63440" y="1399032"/>
            <a:ext cx="193852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ölçek, skip bağlantı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Darknet-53, FPN benzeri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777240"/>
            <a:ext cx="2084832" cy="2011680"/>
          </a:xfrm>
          <a:prstGeom prst="rect">
            <a:avLst/>
          </a:prstGeom>
          <a:solidFill>
            <a:srgbClr val="112240"/>
          </a:solidFill>
          <a:ln w="19050">
            <a:solidFill>
              <a:srgbClr val="7B5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3136" y="777240"/>
            <a:ext cx="2084832" cy="219456"/>
          </a:xfrm>
          <a:prstGeom prst="rect">
            <a:avLst/>
          </a:prstGeom>
          <a:solidFill>
            <a:srgbClr val="7B52E8"/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777240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v4  ·  2020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76288" y="103327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5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FPS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76288" y="1399032"/>
            <a:ext cx="193852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CSP, PANet, Mosaic aug.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CSPDarknet-53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4592" y="2953512"/>
            <a:ext cx="2084832" cy="2011680"/>
          </a:xfrm>
          <a:prstGeom prst="rect">
            <a:avLst/>
          </a:prstGeom>
          <a:solidFill>
            <a:srgbClr val="112240"/>
          </a:solidFill>
          <a:ln w="19050">
            <a:solidFill>
              <a:srgbClr val="10C9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953512"/>
            <a:ext cx="2084832" cy="219456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2953512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v5  ·  2020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7744" y="320954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C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FPS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237744" y="3575304"/>
            <a:ext cx="193852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Ultralytics, PyTorch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Auto-anchor, ONNX export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2953512"/>
            <a:ext cx="2084832" cy="2011680"/>
          </a:xfrm>
          <a:prstGeom prst="rect">
            <a:avLst/>
          </a:prstGeom>
          <a:solidFill>
            <a:srgbClr val="112240"/>
          </a:solidFill>
          <a:ln w="19050">
            <a:solidFill>
              <a:srgbClr val="0FBC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77440" y="2953512"/>
            <a:ext cx="2084832" cy="219456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50592" y="2953512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v8  ·  2023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450592" y="320954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FPS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2450592" y="3575304"/>
            <a:ext cx="193852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Anchor-free, C2f blok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Seg+Pose+Classify dahil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90288" y="2953512"/>
            <a:ext cx="2084832" cy="2011680"/>
          </a:xfrm>
          <a:prstGeom prst="rect">
            <a:avLst/>
          </a:prstGeom>
          <a:solidFill>
            <a:srgbClr val="1122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288" y="2953512"/>
            <a:ext cx="2084832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953512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v9  ·  2024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63440" y="320954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4663440" y="3575304"/>
            <a:ext cx="193852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GELAN + PGI loss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Bilgi kaybına çözüm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03136" y="2953512"/>
            <a:ext cx="2084832" cy="2011680"/>
          </a:xfrm>
          <a:prstGeom prst="rect">
            <a:avLst/>
          </a:prstGeom>
          <a:solidFill>
            <a:srgbClr val="112240"/>
          </a:solidFill>
          <a:ln w="19050">
            <a:solidFill>
              <a:srgbClr val="E879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03136" y="2953512"/>
            <a:ext cx="2084832" cy="219456"/>
          </a:xfrm>
          <a:prstGeom prst="rect">
            <a:avLst/>
          </a:prstGeom>
          <a:solidFill>
            <a:srgbClr val="E879A0"/>
          </a:solidFill>
          <a:ln w="12700">
            <a:solidFill>
              <a:srgbClr val="E879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76288" y="2953512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v10  ·  2024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76288" y="320954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876288" y="3575304"/>
            <a:ext cx="193852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NMS-free çıkarım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Dual-head atama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Mimarisi — Backbone · Neck · Head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77240"/>
            <a:ext cx="290779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10C9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77240"/>
            <a:ext cx="2907792" cy="274320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7724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— CSPDarknet + C2f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" y="1115568"/>
            <a:ext cx="73152" cy="201168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88136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Giriş: 640×640 × 3 RGB görüntü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1645920"/>
            <a:ext cx="73152" cy="201168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1848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Konvolüsyon + BatchNorm + SiLU aktivasyonu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" y="2176272"/>
            <a:ext cx="73152" cy="201168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148840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C2f Blok: Cross-Stage Partial + gradient akışı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" y="2706624"/>
            <a:ext cx="73152" cy="201168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679192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SPPF: Spatial Pyramid Pooling Fast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" y="3236976"/>
            <a:ext cx="73152" cy="201168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09544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aşamalı özellik çıkarımı: P1–P5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" y="3767328"/>
            <a:ext cx="73152" cy="201168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39896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Çıktı: P3(80×80), P4(40×40), P5(20×20)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777240"/>
            <a:ext cx="290779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1A6F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777240"/>
            <a:ext cx="2907792" cy="274320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77724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 — PAN-FPN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74136" y="1115568"/>
            <a:ext cx="73152" cy="201168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1088136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PANet + FPN hibrit yapı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74136" y="1645920"/>
            <a:ext cx="73152" cy="201168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161848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Yukarı örnekleme: derin öz. → ince öz.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74136" y="2176272"/>
            <a:ext cx="73152" cy="201168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2148840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Yan bağlantılar (skip connection)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74136" y="2706624"/>
            <a:ext cx="73152" cy="201168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2679192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Çok ölçekli özellik birleştirme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74136" y="3236976"/>
            <a:ext cx="73152" cy="201168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209544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Büyük, orta, küçük nesne desteği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74136" y="3767328"/>
            <a:ext cx="73152" cy="201168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3739896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Çıktı: 3 ayrı özellik haritası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91072" y="777240"/>
            <a:ext cx="290779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0FBCC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1072" y="777240"/>
            <a:ext cx="2907792" cy="274320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77724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— Anchor-Free Decoupled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19088" y="1115568"/>
            <a:ext cx="73152" cy="201168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1088136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Konum kafası: 4 parametre (x,y,w,h)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19088" y="1645920"/>
            <a:ext cx="73152" cy="201168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161848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Sınıf kafası: C sınıf olasılığı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19088" y="2176272"/>
            <a:ext cx="73152" cy="201168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2148840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DFL Loss: Distribution Focal Loss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19088" y="2706624"/>
            <a:ext cx="73152" cy="201168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2679192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TaskAligned Assigner atama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19088" y="3236976"/>
            <a:ext cx="73152" cy="201168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3209544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NMS ile çakışan kutu eleme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19088" y="3767328"/>
            <a:ext cx="73152" cy="201168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3739896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ONNX / TensorRT export desteği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017520" y="2560320"/>
            <a:ext cx="329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126480" y="2560320"/>
            <a:ext cx="329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Semantik Segmentasyon — FCN · DeepLab · U-Net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77240"/>
            <a:ext cx="2834640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10C98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77240"/>
            <a:ext cx="201168" cy="4160520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1381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C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 — Fully Convolutional Net (2014)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088136"/>
            <a:ext cx="2505456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İlk tam konvolüsyonel segmentasyon modeli.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Boyutlu özellik haritaları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Transpoz konvolüsyon ile upsampling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Skip bağlantı: hassas detaylar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FCN-32s → FCN-16s → FCN-8s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Stride oranı azaldıkça detay artar.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63824" y="777240"/>
            <a:ext cx="2834640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1A6F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63824" y="777240"/>
            <a:ext cx="201168" cy="4160520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1381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v3+ (2018)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38144" y="1088136"/>
            <a:ext cx="2505456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Atrous (dilated) konvolüsyon ile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geniş alıcı alan (receptive field).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ASPP: Atrous Spatial Pyramid Pooling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Çoklu ölçek bağlamı tek geçişte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Backbone: Xception / MobileNet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Depthwise separable conv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CRF post-processing: keskin sınırlar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777240"/>
            <a:ext cx="2834640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7B52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777240"/>
            <a:ext cx="201168" cy="4160520"/>
          </a:xfrm>
          <a:prstGeom prst="rect">
            <a:avLst/>
          </a:prstGeom>
          <a:solidFill>
            <a:srgbClr val="7B52E8"/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813816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5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— Biyomedikal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37376" y="1088136"/>
            <a:ext cx="2505456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Encoder-Decoder simetrik yapı.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Encoder: özellik çıkarımı (max-pool)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Decoder: boyut geri kazanımı (upconv)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Skip concat: ince detaylar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Az veriyle yüksek başarı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Biyomedikal görüntüye özel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U-Net++ / Attention U-Net türevleri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&amp; Panoptic Segmentasyon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7B52E8"/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77240"/>
            <a:ext cx="4297680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7B5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77240"/>
            <a:ext cx="4297680" cy="256032"/>
          </a:xfrm>
          <a:prstGeom prst="rect">
            <a:avLst/>
          </a:prstGeom>
          <a:solidFill>
            <a:srgbClr val="7B52E8"/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Segmentasyon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097280"/>
            <a:ext cx="4114800" cy="1170432"/>
          </a:xfrm>
          <a:prstGeom prst="rect">
            <a:avLst/>
          </a:prstGeom>
          <a:solidFill>
            <a:srgbClr val="070D1A"/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3385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5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(2017)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1389888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Faster R-CNN + piksel maskesi dalı.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RoIAlign: alt-piksel hassasiyet.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çıktı kafası: Box + Class + Mask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2340864"/>
            <a:ext cx="4114800" cy="1170432"/>
          </a:xfrm>
          <a:prstGeom prst="rect">
            <a:avLst/>
          </a:prstGeom>
          <a:solidFill>
            <a:srgbClr val="070D1A"/>
          </a:solidFill>
          <a:ln w="12700">
            <a:solidFill>
              <a:srgbClr val="E879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77440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YOLACT (2019)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2633472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Gerçek zamanlı instance segm.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Prototype mask + lineer kombinasyon.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30+ FPS @ 550×550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3584448"/>
            <a:ext cx="4114800" cy="1170432"/>
          </a:xfrm>
          <a:prstGeom prst="rect">
            <a:avLst/>
          </a:prstGeom>
          <a:solidFill>
            <a:srgbClr val="070D1A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SOLOv2 (2020)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3877056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Konum bazlı örnek ayrımı.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Dynamic convolution.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Ankorsuz, NMSsiz çalışır.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777240"/>
            <a:ext cx="4297680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777240"/>
            <a:ext cx="429768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777240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Panoptic Segmentasyon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91456" y="1078992"/>
            <a:ext cx="4078224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Semantik + Instance birlikte: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Stuff (sayılamaz): Gökyüzü, zemin, yol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Sınıf maskesi (semantik)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Things (sayılabilir): Araba, insan, bisiklet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Nesne maskesi (instance)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Metrik: PQ — Panoptic Quality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PQ = SQ × RQ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SQ: Segmentation, RQ: Recognition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Modeller: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Panoptic-FPN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Mask2Former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OneFormer (tek modelde hepsi)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Güçlü nokta: Eksiksiz sahne anlayışı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Metrikleri — mAP · F1 · FPS · FLOPs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10C98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77240"/>
            <a:ext cx="201168" cy="4160520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1381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C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088136"/>
            <a:ext cx="1755648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Precision = TP / (TP + FP)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Yanlış alarm oranı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Recall = TP / (TP + FN)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Kaçırılan nesne oranı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 = 2 × (P × R) / (P + 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Harmonik ortalama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77440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1A6F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777240"/>
            <a:ext cx="201168" cy="4160520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81381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Precision (AP)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088136"/>
            <a:ext cx="1755648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Precision-Recall eğrisinin altındaki alan.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AP@0.50: IoU eşiği 0.50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AP@0.75: Daha sıkı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AP@.50:.95: COCO standardı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Her sınıf için ayrı hesaplanır.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90288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0FBCC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0288" y="777240"/>
            <a:ext cx="201168" cy="4160520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81381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— mean 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1088136"/>
            <a:ext cx="1755648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Tüm sınıfların AP ortalaması.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COCO mAP = ortalama AP@[.5:.95]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PASCAL VOC mAP = AP@0.5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YOLOv8n: mAP50-95 = 37.3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YOLOv8x: mAP50-95 = 53.9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03136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777240"/>
            <a:ext cx="201168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7456" y="81381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 &amp; Verimlilik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77456" y="1088136"/>
            <a:ext cx="1755648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FPS: Saniyedeki kare sayısı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Gerçek zamanlı: &gt;30 FPS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GFLOPs: Giga Floating Ops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Parametre sayısı (Milyon)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Latency (ms): Tek görüntü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Throughput: Batch işleme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Model Ailesi — Boyut vs mAP vs Hız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182880" y="77724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777240"/>
          <a:ext cx="3566160" cy="347472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822960"/>
                <a:gridCol w="82296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Model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Params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GFLOPs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Hız (ms)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D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YOLOv8n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3.2M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8.7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1.47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YOLOv8s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11.2M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28.6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2.66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YOLOv8m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25.9M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78.9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5.15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YOLOv8l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43.7M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165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8.06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YOLOv8x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68.2M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258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12.81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182880" y="4389120"/>
            <a:ext cx="2084832" cy="658368"/>
          </a:xfrm>
          <a:prstGeom prst="rect">
            <a:avLst/>
          </a:prstGeom>
          <a:solidFill>
            <a:srgbClr val="112240"/>
          </a:solidFill>
          <a:ln w="19050">
            <a:solidFill>
              <a:srgbClr val="10C98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92608" y="44074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C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— Nano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92608" y="46634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Mobil ve edge cihazlar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3.2M parametre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395728" y="4389120"/>
            <a:ext cx="2084832" cy="658368"/>
          </a:xfrm>
          <a:prstGeom prst="rect">
            <a:avLst/>
          </a:prstGeom>
          <a:solidFill>
            <a:srgbClr val="112240"/>
          </a:solidFill>
          <a:ln w="19050">
            <a:solidFill>
              <a:srgbClr val="1A6F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05456" y="44074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Small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505456" y="46634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Dengeli hız-doğruluk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11.2M parametre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08576" y="4389120"/>
            <a:ext cx="2084832" cy="658368"/>
          </a:xfrm>
          <a:prstGeom prst="rect">
            <a:avLst/>
          </a:prstGeom>
          <a:solidFill>
            <a:srgbClr val="1122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18304" y="44074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Large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718304" y="46634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Yüksek doğruluk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43.7M parametre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821424" y="4389120"/>
            <a:ext cx="2084832" cy="658368"/>
          </a:xfrm>
          <a:prstGeom prst="rect">
            <a:avLst/>
          </a:prstGeom>
          <a:solidFill>
            <a:srgbClr val="112240"/>
          </a:solidFill>
          <a:ln w="19050">
            <a:solidFill>
              <a:srgbClr val="0FBCC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931152" y="44074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— XLarge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931152" y="46634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Maksimum doğruluk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68.2M parametre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Setleri &amp; Etiketleme Araçları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0FBCC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77240"/>
            <a:ext cx="201168" cy="4160520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1381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088136"/>
            <a:ext cx="1755648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330K görüntü, 80 sınıf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1.5M nesne instance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Object Detection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Keypoint Detection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Segmentation &amp; Captioning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mAP@[.50:.95] standart metrik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77440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10C98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777240"/>
            <a:ext cx="201168" cy="4160520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81381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C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 VOC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088136"/>
            <a:ext cx="1755648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11K görüntü, 20 sınıf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2007 &amp; 2012 versiyonları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XML annotation formatı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mAP@0.5 metriği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Orijinal benchmark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dataseti, artık klasik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90288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7B52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0288" y="777240"/>
            <a:ext cx="201168" cy="4160520"/>
          </a:xfrm>
          <a:prstGeom prst="rect">
            <a:avLst/>
          </a:prstGeom>
          <a:solidFill>
            <a:srgbClr val="7B52E8"/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81381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5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Images v7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1088136"/>
            <a:ext cx="1755648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9M görüntü, 600 sınıf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Google tarafından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16M bounding box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3M segmentation mask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 büyük annotated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open-source dataset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03136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777240"/>
            <a:ext cx="201168" cy="416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7456" y="81381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Etiketleme Araçları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77456" y="1088136"/>
            <a:ext cx="1755648" cy="3776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LabelImg — YOLO format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Roboflow — Cloud platform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CVAT — Video annotation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LabelMe — Polygon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Scale AI — İnsan etiketleme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Supervisely — Tam pipeline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 Uygulamaları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77240"/>
            <a:ext cx="2834640" cy="2029968"/>
          </a:xfrm>
          <a:prstGeom prst="rect">
            <a:avLst/>
          </a:prstGeom>
          <a:solidFill>
            <a:srgbClr val="112240"/>
          </a:solidFill>
          <a:ln w="19050">
            <a:solidFill>
              <a:srgbClr val="E879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77240"/>
            <a:ext cx="2834640" cy="237744"/>
          </a:xfrm>
          <a:prstGeom prst="rect">
            <a:avLst/>
          </a:prstGeom>
          <a:solidFill>
            <a:srgbClr val="E879A0"/>
          </a:solidFill>
          <a:ln w="12700">
            <a:solidFill>
              <a:srgbClr val="E879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Otonom Araçlar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" y="1051560"/>
            <a:ext cx="2578608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Yaya &amp; araç tespiti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Şerit &amp; trafik işareti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LiDAR + kamera füzyon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 segmentation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Şirket: Tesla, Waymo, Mobileye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63824" y="777240"/>
            <a:ext cx="2834640" cy="2029968"/>
          </a:xfrm>
          <a:prstGeom prst="rect">
            <a:avLst/>
          </a:prstGeom>
          <a:solidFill>
            <a:srgbClr val="112240"/>
          </a:solidFill>
          <a:ln w="19050">
            <a:solidFill>
              <a:srgbClr val="1A6F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63824" y="777240"/>
            <a:ext cx="2834640" cy="237744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Tıbbi Görüntüleme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051560"/>
            <a:ext cx="2578608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Tümör segmentasyonu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Organ tespiti (BT/MR)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Hücre sayma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Retinal analiz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U-Net &amp; Mask R-CNN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az veriyle yüksek başarı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777240"/>
            <a:ext cx="2834640" cy="2029968"/>
          </a:xfrm>
          <a:prstGeom prst="rect">
            <a:avLst/>
          </a:prstGeom>
          <a:solidFill>
            <a:srgbClr val="112240"/>
          </a:solidFill>
          <a:ln w="19050">
            <a:solidFill>
              <a:srgbClr val="10C9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777240"/>
            <a:ext cx="2834640" cy="237744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Endüstriyel Kontrol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91072" y="1051560"/>
            <a:ext cx="2578608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Kusur tespiti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Montaj doğrulama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Üretim hattı izleme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Robot yönlendirme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Gerçek zamanlı YOLO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Edge deployment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4592" y="2953512"/>
            <a:ext cx="2834640" cy="2029968"/>
          </a:xfrm>
          <a:prstGeom prst="rect">
            <a:avLst/>
          </a:prstGeom>
          <a:solidFill>
            <a:srgbClr val="1122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2953512"/>
            <a:ext cx="2834640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9535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Güvenlik &amp; Güvenlik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3227832"/>
            <a:ext cx="2578608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Yüz tespiti &amp; tanıma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Kalabalık analizi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Davranış tespiti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Anomalı aktivite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CCTV + AI entegrasyonu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Gizlilik etik soruları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63824" y="2953512"/>
            <a:ext cx="2834640" cy="2029968"/>
          </a:xfrm>
          <a:prstGeom prst="rect">
            <a:avLst/>
          </a:prstGeom>
          <a:solidFill>
            <a:srgbClr val="112240"/>
          </a:solidFill>
          <a:ln w="19050">
            <a:solidFill>
              <a:srgbClr val="7B52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3824" y="2953512"/>
            <a:ext cx="2834640" cy="237744"/>
          </a:xfrm>
          <a:prstGeom prst="rect">
            <a:avLst/>
          </a:prstGeom>
          <a:solidFill>
            <a:srgbClr val="7B52E8"/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55264" y="29535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Tarım &amp; Çevre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227832"/>
            <a:ext cx="2578608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Bitki hastalık tespiti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Mahsul sayımı (drone)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Yabani ot tespiti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Orman yangın izleme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Multispectral imagery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Satellite analysis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2953512"/>
            <a:ext cx="2834640" cy="2029968"/>
          </a:xfrm>
          <a:prstGeom prst="rect">
            <a:avLst/>
          </a:prstGeom>
          <a:solidFill>
            <a:srgbClr val="112240"/>
          </a:solidFill>
          <a:ln w="19050">
            <a:solidFill>
              <a:srgbClr val="0FBC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3056" y="2953512"/>
            <a:ext cx="2834640" cy="237744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9535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Perakende &amp; 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91072" y="3227832"/>
            <a:ext cx="2578608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Raf analizi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Ürün tanıma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Arttırılmış gerçeklik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Kasasız mağaza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Amazon Go tarzı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 try-on uygulamaları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Framework, Araçlar &amp; Dağıtım Ekosistemi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1A6F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77240"/>
            <a:ext cx="2084832" cy="237744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7724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Framework'leri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1078992"/>
            <a:ext cx="1901952" cy="1170432"/>
          </a:xfrm>
          <a:prstGeom prst="rect">
            <a:avLst/>
          </a:prstGeom>
          <a:solidFill>
            <a:srgbClr val="070D1A"/>
          </a:solidFill>
          <a:ln w="10160">
            <a:solidFill>
              <a:srgbClr val="1A6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115568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PyTorch — Araştırma standardı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Dynamic graph, autograd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2322576"/>
            <a:ext cx="1901952" cy="1170432"/>
          </a:xfrm>
          <a:prstGeom prst="rect">
            <a:avLst/>
          </a:prstGeom>
          <a:solidFill>
            <a:srgbClr val="070D1A"/>
          </a:solidFill>
          <a:ln w="10160">
            <a:solidFill>
              <a:srgbClr val="1A6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2359152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TensorFlow/Keras — Production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TFLite mobile export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3566160"/>
            <a:ext cx="1901952" cy="1170432"/>
          </a:xfrm>
          <a:prstGeom prst="rect">
            <a:avLst/>
          </a:prstGeom>
          <a:solidFill>
            <a:srgbClr val="070D1A"/>
          </a:solidFill>
          <a:ln w="10160">
            <a:solidFill>
              <a:srgbClr val="1A6F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3602736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Ultralytics YOLO — Kolay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train, val, predict, export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10C9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777240"/>
            <a:ext cx="2084832" cy="237744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77724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&amp; Artırma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0" y="1078992"/>
            <a:ext cx="1901952" cy="1170432"/>
          </a:xfrm>
          <a:prstGeom prst="rect">
            <a:avLst/>
          </a:prstGeom>
          <a:solidFill>
            <a:srgbClr val="070D1A"/>
          </a:solidFill>
          <a:ln w="10160">
            <a:solidFill>
              <a:srgbClr val="10C9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1115568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Albumentations — Hızlı aug.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Flip, crop, blur, CutOut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2322576"/>
            <a:ext cx="1901952" cy="1170432"/>
          </a:xfrm>
          <a:prstGeom prst="rect">
            <a:avLst/>
          </a:prstGeom>
          <a:solidFill>
            <a:srgbClr val="070D1A"/>
          </a:solidFill>
          <a:ln w="10160">
            <a:solidFill>
              <a:srgbClr val="10C9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2359152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Roboflow — Veri yönetimi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Annotation, versioning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3566160"/>
            <a:ext cx="1901952" cy="1170432"/>
          </a:xfrm>
          <a:prstGeom prst="rect">
            <a:avLst/>
          </a:prstGeom>
          <a:solidFill>
            <a:srgbClr val="070D1A"/>
          </a:solidFill>
          <a:ln w="10160">
            <a:solidFill>
              <a:srgbClr val="10C9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3602736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torchvision — Yerleşik transforms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standart augmentations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90288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7B52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90288" y="777240"/>
            <a:ext cx="2084832" cy="237744"/>
          </a:xfrm>
          <a:prstGeom prst="rect">
            <a:avLst/>
          </a:prstGeom>
          <a:solidFill>
            <a:srgbClr val="7B52E8"/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77724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Dağıtım &amp; Optimizasyon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81728" y="1078992"/>
            <a:ext cx="1901952" cy="1170432"/>
          </a:xfrm>
          <a:prstGeom prst="rect">
            <a:avLst/>
          </a:prstGeom>
          <a:solidFill>
            <a:srgbClr val="070D1A"/>
          </a:solidFill>
          <a:ln w="10160">
            <a:solidFill>
              <a:srgbClr val="7B5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115568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ONNX — Çerçeveler arası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platform-bağımsız format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81728" y="2322576"/>
            <a:ext cx="1901952" cy="1170432"/>
          </a:xfrm>
          <a:prstGeom prst="rect">
            <a:avLst/>
          </a:prstGeom>
          <a:solidFill>
            <a:srgbClr val="070D1A"/>
          </a:solidFill>
          <a:ln w="10160">
            <a:solidFill>
              <a:srgbClr val="7B5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359152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TensorRT — NVIDIA GPU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4-8x hız artışı, FP16/INT8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81728" y="3566160"/>
            <a:ext cx="1901952" cy="1170432"/>
          </a:xfrm>
          <a:prstGeom prst="rect">
            <a:avLst/>
          </a:prstGeom>
          <a:solidFill>
            <a:srgbClr val="070D1A"/>
          </a:solidFill>
          <a:ln w="10160">
            <a:solidFill>
              <a:srgbClr val="7B5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02736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OpenVINO — Intel CPU/VPU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Edge cihazlar için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03136" y="777240"/>
            <a:ext cx="2084832" cy="4160520"/>
          </a:xfrm>
          <a:prstGeom prst="rect">
            <a:avLst/>
          </a:prstGeom>
          <a:solidFill>
            <a:srgbClr val="1122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3136" y="777240"/>
            <a:ext cx="2084832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4576" y="77724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Görselleştirme &amp; Takip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94576" y="1078992"/>
            <a:ext cx="1901952" cy="1170432"/>
          </a:xfrm>
          <a:prstGeom prst="rect">
            <a:avLst/>
          </a:prstGeom>
          <a:solidFill>
            <a:srgbClr val="070D1A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1115568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WandB — Deney takibi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Metrik, görsel, model log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94576" y="2322576"/>
            <a:ext cx="1901952" cy="1170432"/>
          </a:xfrm>
          <a:prstGeom prst="rect">
            <a:avLst/>
          </a:prstGeom>
          <a:solidFill>
            <a:srgbClr val="070D1A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67728" y="2359152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TensorBoard — Loss/metric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canlı eğitim izleme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94576" y="3566160"/>
            <a:ext cx="1901952" cy="1170432"/>
          </a:xfrm>
          <a:prstGeom prst="rect">
            <a:avLst/>
          </a:prstGeom>
          <a:solidFill>
            <a:srgbClr val="070D1A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3602736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Netron — Mimari görsel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ONNX/TF/PyTorch model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Seçim Rehberi — Görev × Kısıt Matrisi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7B52E8"/>
          </a:solidFill>
          <a:ln w="12700">
            <a:solidFill>
              <a:srgbClr val="7B52E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04672"/>
          <a:ext cx="8778240" cy="3931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645920"/>
                <a:gridCol w="164592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Görev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2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Hız Kritik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2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Doğruluk Kritik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2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Edge/Mobil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2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Az Veri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2E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Nesne Tespiti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YOLOv8n/s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YOLOv8x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YOLOv8n + TFLite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Transfer learning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Semantik Seg.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DeepLabv3 MobileNet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DeepLabv3+ Xception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MobileNetv3-Seg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U-Net pretrained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Instance Seg.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YOLACT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Mask R-CNN X101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YOLOv8-seg nano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Mask R-CNN finetune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Panoptic Seg.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Panoptic-FPN Fast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Mask2Former Swin-L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Sınırlı destek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OneFormer + aug.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Keypoint/Pose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YOLOv8-pose nano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YOLOv8-pose large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YOLOv8-pose n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ViTPose finetune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4809744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62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💡  Transfer learning ve ön eğitimli ağırlıklar (ImageNet/COCO) her zaman ilk tercihiniz olmalıdır.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— Temel Çıkarımlar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658368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77240"/>
            <a:ext cx="2834640" cy="1865376"/>
          </a:xfrm>
          <a:prstGeom prst="rect">
            <a:avLst/>
          </a:prstGeom>
          <a:solidFill>
            <a:srgbClr val="112240"/>
          </a:solidFill>
          <a:ln w="19050">
            <a:solidFill>
              <a:srgbClr val="10C9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77240"/>
            <a:ext cx="438912" cy="1865376"/>
          </a:xfrm>
          <a:prstGeom prst="rect">
            <a:avLst/>
          </a:prstGeom>
          <a:solidFill>
            <a:srgbClr val="10C98F"/>
          </a:solidFill>
          <a:ln w="12700">
            <a:solidFill>
              <a:srgbClr val="10C9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344168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4944" y="832104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C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Ana Görev Var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" y="1161288"/>
            <a:ext cx="2231136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Sınıflandırma → Tespit → Semantik Seg. → Instance Seg. Her biri farklı çıktı ve hesaplama dengesi gerektirir.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27248" y="777240"/>
            <a:ext cx="2834640" cy="1865376"/>
          </a:xfrm>
          <a:prstGeom prst="rect">
            <a:avLst/>
          </a:prstGeom>
          <a:solidFill>
            <a:srgbClr val="112240"/>
          </a:solidFill>
          <a:ln w="19050">
            <a:solidFill>
              <a:srgbClr val="1A6F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27248" y="777240"/>
            <a:ext cx="438912" cy="1865376"/>
          </a:xfrm>
          <a:prstGeom prst="rect">
            <a:avLst/>
          </a:prstGeom>
          <a:solidFill>
            <a:srgbClr val="1A6FD8"/>
          </a:solidFill>
          <a:ln w="12700">
            <a:solidFill>
              <a:srgbClr val="1A6F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1344168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832104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 → YOLO Evrimi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1161288"/>
            <a:ext cx="2231136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İki aşamalı (doğru ama yavaş) → Tek aşamalı (hızlı &amp; dengeli). YOLO bugün de en popüler gerçek zamanlı çözümdür.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9904" y="777240"/>
            <a:ext cx="2834640" cy="1865376"/>
          </a:xfrm>
          <a:prstGeom prst="rect">
            <a:avLst/>
          </a:prstGeom>
          <a:solidFill>
            <a:srgbClr val="112240"/>
          </a:solidFill>
          <a:ln w="19050">
            <a:solidFill>
              <a:srgbClr val="7B5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9904" y="777240"/>
            <a:ext cx="438912" cy="1865376"/>
          </a:xfrm>
          <a:prstGeom prst="rect">
            <a:avLst/>
          </a:prstGeom>
          <a:solidFill>
            <a:srgbClr val="7B52E8"/>
          </a:solidFill>
          <a:ln w="12700">
            <a:solidFill>
              <a:srgbClr val="7B5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9904" y="1344168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0256" y="832104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YOLOv8+ Anchor-Free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0256" y="1161288"/>
            <a:ext cx="2231136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v8 ile anchor-free tasarım, decoupled head ve DFL loss birleşimi SOTA'ya ulaşıyor. v10 NMS'yi kaldırdı.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" y="2788920"/>
            <a:ext cx="2834640" cy="1865376"/>
          </a:xfrm>
          <a:prstGeom prst="rect">
            <a:avLst/>
          </a:prstGeom>
          <a:solidFill>
            <a:srgbClr val="1122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" y="2788920"/>
            <a:ext cx="438912" cy="18653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" y="3355848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" y="2843784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Metrik: mAP &amp; IoU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" y="3172968"/>
            <a:ext cx="2231136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IoU eşiği ve Precision-Recall dengesi projeye göre seçilir. mAP@[.5:.95] COCO standardıdır.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27248" y="2788920"/>
            <a:ext cx="2834640" cy="1865376"/>
          </a:xfrm>
          <a:prstGeom prst="rect">
            <a:avLst/>
          </a:prstGeom>
          <a:solidFill>
            <a:srgbClr val="112240"/>
          </a:solidFill>
          <a:ln w="19050">
            <a:solidFill>
              <a:srgbClr val="0FBC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27248" y="2788920"/>
            <a:ext cx="438912" cy="1865376"/>
          </a:xfrm>
          <a:prstGeom prst="rect">
            <a:avLst/>
          </a:prstGeom>
          <a:solidFill>
            <a:srgbClr val="0FBCCE"/>
          </a:solidFill>
          <a:ln w="12700">
            <a:solidFill>
              <a:srgbClr val="0FBC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27248" y="3355848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57600" y="2843784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Dağıtım: ONNX / TRT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0" y="3172968"/>
            <a:ext cx="2231136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Eğitim PyTorch, dağıtım ONNX/TensorRT/OpenVINO pipeline'ı ile 4-8× hız kazanımı sağlanır.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9904" y="2788920"/>
            <a:ext cx="2834640" cy="1865376"/>
          </a:xfrm>
          <a:prstGeom prst="rect">
            <a:avLst/>
          </a:prstGeom>
          <a:solidFill>
            <a:srgbClr val="112240"/>
          </a:solidFill>
          <a:ln w="19050">
            <a:solidFill>
              <a:srgbClr val="E879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9904" y="2788920"/>
            <a:ext cx="438912" cy="1865376"/>
          </a:xfrm>
          <a:prstGeom prst="rect">
            <a:avLst/>
          </a:prstGeom>
          <a:solidFill>
            <a:srgbClr val="E879A0"/>
          </a:solidFill>
          <a:ln w="12700">
            <a:solidFill>
              <a:srgbClr val="E879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3355848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20256" y="2843784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Kalitesi Önce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0256" y="3172968"/>
            <a:ext cx="2231136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Hiperparametre optimizasyonundan önce kaliteli annotation ve veri artırma yatırımı yapın.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Segmentasyon, Nesne Tespiti &amp; YOLO</dc:title>
  <dc:subject>PptxGenJS Presentation</dc:subject>
  <dc:creator>AI/ML Eğitim Serisi</dc:creator>
  <cp:lastModifiedBy>AI/ML Eğitim Serisi</cp:lastModifiedBy>
  <cp:revision>1</cp:revision>
  <dcterms:created xsi:type="dcterms:W3CDTF">2026-03-10T07:09:35Z</dcterms:created>
  <dcterms:modified xsi:type="dcterms:W3CDTF">2026-03-10T07:09:35Z</dcterms:modified>
</cp:coreProperties>
</file>