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3" autoAdjust="0"/>
    <p:restoredTop sz="94610"/>
  </p:normalViewPr>
  <p:slideViewPr>
    <p:cSldViewPr snapToGrid="0" snapToObjects="1">
      <p:cViewPr>
        <p:scale>
          <a:sx n="123" d="100"/>
          <a:sy n="123" d="100"/>
        </p:scale>
        <p:origin x="96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76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-731520"/>
            <a:ext cx="4114800" cy="4114800"/>
          </a:xfrm>
          <a:prstGeom prst="line">
            <a:avLst/>
          </a:prstGeom>
          <a:solidFill>
            <a:srgbClr val="0A3D2B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743200"/>
            <a:ext cx="2286000" cy="2286000"/>
          </a:xfrm>
          <a:prstGeom prst="line">
            <a:avLst/>
          </a:prstGeom>
          <a:solidFill>
            <a:srgbClr val="06503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 •  CUMARTESİ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Evrişimli Sinir Ağları</a:t>
            </a:r>
            <a:endParaRPr lang="en-US" sz="55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Transfer Learning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8321040" cy="2743"/>
          </a:xfrm>
          <a:prstGeom prst="rect">
            <a:avLst/>
          </a:prstGeom>
          <a:solidFill>
            <a:srgbClr val="135E40"/>
          </a:solidFill>
          <a:ln w="12700">
            <a:solidFill>
              <a:srgbClr val="135E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&amp; Feature Maps  →  Pooling  →  Data Augmentation  →  ResNet Blokları  →  Fine-Tuning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— 17:00  ·  7 Saat  ·  4 Python Dosyası  ·  700+ Satır Kod  ·  Veri: CIFAR-10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Planı — Hafta 2 Cumartesi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1572768" cy="1389888"/>
          </a:xfrm>
          <a:prstGeom prst="rect">
            <a:avLst/>
          </a:prstGeom>
          <a:solidFill>
            <a:srgbClr val="6B7280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607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09:00–09:30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6032" y="1691640"/>
            <a:ext cx="15727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 Özeti &amp; CNN'e Giriş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84248" y="1005840"/>
            <a:ext cx="1572768" cy="1389888"/>
          </a:xfrm>
          <a:prstGeom prst="rect">
            <a:avLst/>
          </a:prstGeom>
          <a:solidFill>
            <a:srgbClr val="0F766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4248" y="10607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09:30–10:45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84248" y="128016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84248" y="1691640"/>
            <a:ext cx="15727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Conv2D, Feature Map, Pooling Lab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12464" y="1005840"/>
            <a:ext cx="1572768" cy="1389888"/>
          </a:xfrm>
          <a:prstGeom prst="rect">
            <a:avLst/>
          </a:prstGeom>
          <a:solidFill>
            <a:srgbClr val="9CA3A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0607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10:45–11:00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12464" y="128016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12464" y="1691640"/>
            <a:ext cx="15727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Kısa Mola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1005840"/>
            <a:ext cx="1572768" cy="1389888"/>
          </a:xfrm>
          <a:prstGeom prst="rect">
            <a:avLst/>
          </a:prstGeom>
          <a:solidFill>
            <a:srgbClr val="059669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0680" y="10607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40680" y="128016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40680" y="1691640"/>
            <a:ext cx="15727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Stratejileri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68896" y="1005840"/>
            <a:ext cx="1572768" cy="1389888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68896" y="10607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12:00–13:00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68896" y="128016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68896" y="1691640"/>
            <a:ext cx="15727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CNN: ResNet, DepthwiseConv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2578608"/>
            <a:ext cx="1572768" cy="1389888"/>
          </a:xfrm>
          <a:prstGeom prst="rect">
            <a:avLst/>
          </a:prstGeom>
          <a:solidFill>
            <a:srgbClr val="9CA3A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" y="26334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13:00–14:00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" y="285292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56032" y="3264408"/>
            <a:ext cx="15727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 Öğle Arası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84248" y="2578608"/>
            <a:ext cx="1572768" cy="1389888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84248" y="26334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14:00–15:30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84248" y="285292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984248" y="3264408"/>
            <a:ext cx="15727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&amp; Fine-Tuning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12464" y="2578608"/>
            <a:ext cx="1572768" cy="1389888"/>
          </a:xfrm>
          <a:prstGeom prst="rect">
            <a:avLst/>
          </a:prstGeom>
          <a:solidFill>
            <a:srgbClr val="D97706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712464" y="26334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15:30–16:30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12464" y="285292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3712464" y="3264408"/>
            <a:ext cx="15727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Analizi &amp; Grad-CAM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2578608"/>
            <a:ext cx="1572768" cy="1389888"/>
          </a:xfrm>
          <a:prstGeom prst="rect">
            <a:avLst/>
          </a:prstGeom>
          <a:solidFill>
            <a:srgbClr val="064E3B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40680" y="26334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16:30–17:00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40680" y="285292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5440680" y="3264408"/>
            <a:ext cx="157276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 &amp; Kapanış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4480560"/>
            <a:ext cx="8631936" cy="40233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48056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Gün Sonu: CIFAR-10'da %85+ accuracy  +  Pre-trained model + Grad-CAM görselleştirme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Temel Mimarisi — Katmandan Katmana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→ BatchNorm → Activation → Pooling → Dense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1097280" cy="1170432"/>
          </a:xfrm>
          <a:prstGeom prst="rect">
            <a:avLst/>
          </a:prstGeom>
          <a:solidFill>
            <a:srgbClr val="6B7280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102412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1627632"/>
            <a:ext cx="1097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32×32×3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80160" y="138988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44752" y="987552"/>
            <a:ext cx="1097280" cy="1170432"/>
          </a:xfrm>
          <a:prstGeom prst="rect">
            <a:avLst/>
          </a:prstGeom>
          <a:solidFill>
            <a:srgbClr val="0F766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44752" y="102412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 filtre)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44752" y="1627632"/>
            <a:ext cx="1097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kernel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23744" y="138988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688336" y="987552"/>
            <a:ext cx="1097280" cy="1170432"/>
          </a:xfrm>
          <a:prstGeom prst="rect">
            <a:avLst/>
          </a:prstGeom>
          <a:solidFill>
            <a:srgbClr val="059669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88336" y="102412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+ReLU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8336" y="1627632"/>
            <a:ext cx="1097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aktive 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67328" y="138988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931920" y="987552"/>
            <a:ext cx="1097280" cy="1170432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31920" y="102412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1627632"/>
            <a:ext cx="1097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16×16×32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10912" y="138988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175504" y="987552"/>
            <a:ext cx="1097280" cy="1170432"/>
          </a:xfrm>
          <a:prstGeom prst="rect">
            <a:avLst/>
          </a:prstGeom>
          <a:solidFill>
            <a:srgbClr val="0F766E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75504" y="102412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 filtre)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75504" y="1627632"/>
            <a:ext cx="1097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kernel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padding=same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54496" y="138988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19088" y="987552"/>
            <a:ext cx="1097280" cy="1170432"/>
          </a:xfrm>
          <a:prstGeom prst="rect">
            <a:avLst/>
          </a:prstGeom>
          <a:solidFill>
            <a:srgbClr val="65A30D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19088" y="102412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1627632"/>
            <a:ext cx="1097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1×1×64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sayısı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138988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62672" y="987552"/>
            <a:ext cx="1097280" cy="1170432"/>
          </a:xfrm>
          <a:prstGeom prst="rect">
            <a:avLst/>
          </a:prstGeom>
          <a:solidFill>
            <a:srgbClr val="064E3B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62672" y="102412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62672" y="1627632"/>
            <a:ext cx="1097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sınıf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7F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2331720"/>
            <a:ext cx="42245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2331720"/>
            <a:ext cx="64008" cy="10789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(Kernel)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0624" y="2734056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 matrisi (ör. 3×3). Girdi üzerinde kaydırılarak özellik haritası üretir. Ağ ağırlıkları öğrenilir.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90872" y="2331720"/>
            <a:ext cx="42245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90872" y="2331720"/>
            <a:ext cx="64008" cy="10789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4855464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55464" y="2734056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filtrenin girdiyle konvolüsyon sonucu. Her filtre farklı bir özelliği yakalar (kenar, doku, şekil).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3566160"/>
            <a:ext cx="42245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3566160"/>
            <a:ext cx="64008" cy="10789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420624" y="3657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Padding='same'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20624" y="3968496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boyutunu girdiyle aynı tutar. 'valid'=küçülür. 'same'=aynı kalır. Kenar bilgisi korunur.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90872" y="3566160"/>
            <a:ext cx="4224528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90872" y="3566160"/>
            <a:ext cx="64008" cy="1078992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47" name="Text 45"/>
          <p:cNvSpPr/>
          <p:nvPr/>
        </p:nvSpPr>
        <p:spPr>
          <a:xfrm>
            <a:off x="4855464" y="3657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55464" y="3968496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feature map'teki tüm değerlerin ortalaması. Flatten yerine parametre sayısını dramatik düşürür.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— Derinlemesine Parametre Analizi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· kernel_size · strides · padding · dilation_rate · groups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5074920" cy="3840480"/>
          </a:xfrm>
          <a:prstGeom prst="rect">
            <a:avLst/>
          </a:prstGeom>
          <a:solidFill>
            <a:srgbClr val="012B20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5074920" cy="256032"/>
          </a:xfrm>
          <a:prstGeom prst="rect">
            <a:avLst/>
          </a:prstGeom>
          <a:solidFill>
            <a:srgbClr val="0123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87552"/>
            <a:ext cx="4910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conv2d_detay.py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28016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TEMEL CONV2D KULLANIMI 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41914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layers.Conv2D(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55813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filters=64,            # Öğrenilecek filtre sayısı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69712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kernel_size=(3,3),     # Filtre boyutu (veya sadece 3)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836115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strides=(1,1),         # Kaydırma adımı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197510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padding='same',        # 'valid' veya 'same'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114093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activation=None,       # BN önce None tercih edilir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25308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use_bias=False,        # BatchNorm varsa bias gereksiz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39207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kernel_initializer='he_normal',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253105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kernel_regularizer=regularizers.l2(1e-4),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267004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name='conv_block1'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2809037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)(x)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294802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308701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DEPTHWISE SEPARABLE CONV (verimli) ──────────────────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3226003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layers.DepthwiseConv2D(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36499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kernel_size=3, padding='same', use_bias=False)(x)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3503981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layers.Conv2D(64, 1, use_bias=False)(x)   # pointwise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364297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378195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DİLATED CONV (büyük reseptif alan) ──────────────────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920947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layers.Conv2D(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405993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64, 3, padding='same',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198925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dilation_rate=2       # 2=etkin 5×5, 4=</a:t>
            </a:r>
            <a:r>
              <a:rPr lang="en-US" sz="850" dirty="0" err="1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etkin</a:t>
            </a: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smtClean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9×9</a:t>
            </a:r>
            <a:r>
              <a:rPr lang="tr-TR" sz="850" dirty="0" smtClean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k=k+(k-1)(d-1)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433791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)(x)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47690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4615891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PARAMETRE SAYISI ─────────────────────────────────────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048" y="475488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Conv2D(64, 3×3, girdi_kanal=32):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489386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F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params = (3×3×32 + 1) × 64 = 18.496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4048" y="503285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DSConv aynı yapı: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048" y="517184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F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params = 3×3×32 + 32×64 = 2.336  (8x az!)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0" y="987552"/>
            <a:ext cx="3401568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0" y="987552"/>
            <a:ext cx="64008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Text 38"/>
          <p:cNvSpPr/>
          <p:nvPr/>
        </p:nvSpPr>
        <p:spPr>
          <a:xfrm>
            <a:off x="5650992" y="104241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filters=64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50992" y="126187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farklı özelliği yakalar. Derin katmanlarda artırılır (32→64→128→256). Her filtre bağımsız öğrenir.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1755648"/>
            <a:ext cx="3401568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0" y="1755648"/>
            <a:ext cx="64008" cy="67665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5650992" y="181051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kernel_size=3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50992" y="202996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en yaygın. Büyük kernel=geniş görüş alanı ama daha fazla parametre. 1×1 boyut dönüşümü için.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0" y="2523744"/>
            <a:ext cx="3401568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86400" y="2523744"/>
            <a:ext cx="64008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5650992" y="257860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strides=2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50992" y="279806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Stride=2 → feature map yarı boyuta düşer. MaxPool yerine stride=2 Conv kullanmak modern tercih.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0" y="3291840"/>
            <a:ext cx="3401568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486400" y="3291840"/>
            <a:ext cx="64008" cy="676656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52" name="Text 50"/>
          <p:cNvSpPr/>
          <p:nvPr/>
        </p:nvSpPr>
        <p:spPr>
          <a:xfrm>
            <a:off x="5650992" y="334670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5A3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padding='same'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50992" y="356616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= Girdi boyutu. Kenar pikseller tekrarlanır. UNet, segmentasyon için kritik.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0" y="4059936"/>
            <a:ext cx="3401568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486400" y="4059936"/>
            <a:ext cx="64008" cy="6766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5650992" y="411480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dilation_rate=2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50992" y="433425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boşluklu uygulanır. 3×3 filtre → 5×5 alana bakar. Segmentasyon, ses işlemede yaygın.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56032" y="4681728"/>
            <a:ext cx="8631936" cy="2743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59" name="Text 57"/>
          <p:cNvSpPr/>
          <p:nvPr/>
        </p:nvSpPr>
        <p:spPr>
          <a:xfrm>
            <a:off x="402336" y="4681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DSConv = DepthwiseConv2D + Conv2D(1×1)  →  %87 daha az parametre, benzer doğruluk  (MobileNet prensibi)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&amp; Normalization — Karşılaştırmalı Analiz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· AvgPool · GlobalAvgPool · BatchNorm · LayerNorm · GroupNorm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4224528" cy="3108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875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MaxPooling2D(2×2)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0" y="987552"/>
            <a:ext cx="15087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max(2×2 bölge)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Keskin özellik; kenar/doku iyi algılar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1664208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Konumsal bilgi kaybolabilir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90872" y="98755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987552"/>
            <a:ext cx="4224528" cy="3108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875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AveragePooling2D(2×2)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60920" y="987552"/>
            <a:ext cx="15087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mean(2×2 bölge)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8032" y="1371600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Düzgün özellik; arka plan için iyi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1664208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Keskin özellikler yumuşar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31343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313432"/>
            <a:ext cx="4224528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1343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26080" y="2313432"/>
            <a:ext cx="15087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mean(tüm H×W)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" y="2697480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Parametre sayısını düşürür; GAP→Dense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3192" y="2990088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Ince konumsal bilgi gider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90872" y="231343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2313432"/>
            <a:ext cx="4224528" cy="310896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31343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GlobalMaxPooling2D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60920" y="2313432"/>
            <a:ext cx="15087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max(tüm H×W)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28032" y="2697480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 güçlü aktivasyonu alır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2990088"/>
            <a:ext cx="3950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GAP'a göre daha az kullanılır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37033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703320"/>
            <a:ext cx="64008" cy="10058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" y="37764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0624" y="40507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0624" y="42702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boyunca normalize. Eğitim/test farkı var (momentum). CNN için standart.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45536" y="37033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45536" y="370332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3310128" y="37764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10128" y="40507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LayerNormalization()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0128" y="42702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örnek içinde normalize. Batch size'dan bağımsız. Transformer standart.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37033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370332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6199632" y="37764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GroupNorm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99632" y="40507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GroupNormalization(32)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99632" y="42702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Kanalları gruplara bölerek normalize. Küçük batch size'larda BN'den iyi.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887968" y="3703320"/>
            <a:ext cx="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— Neden ve Nasıl?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 pipeline · Keras preprocessing layers · Albumentations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64008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0241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Problem: Veri Yetersizliği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" y="133502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eğitimde görmediği açı, aydınlatma, ölçek değişimleri test setinde başarısızlık yaratır. Daha fazla veri toplamak pahalıdır.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90288" y="987552"/>
            <a:ext cx="42976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987552"/>
            <a:ext cx="64008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0241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Çözüm: Data Augmentation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36592" y="133502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sırasında resimleri rastgele dönüştürerek yapay çeşitlilik yaratır. Modelin genelleme kapasitesi artar, overfitting azalır.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139696"/>
            <a:ext cx="28346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139696"/>
            <a:ext cx="2834640" cy="2926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396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RandomFlip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84832" y="2139696"/>
            <a:ext cx="9601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F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RandomFlip('horizontal')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2505456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Yatay/dikey çevirme. CIFAR-10 için yaygın. Sayılar için dikkat (6↔9).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18688" y="2139696"/>
            <a:ext cx="28346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2139696"/>
            <a:ext cx="28346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21396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RandomRotation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47488" y="2139696"/>
            <a:ext cx="9601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F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RandomRotation(0.1)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28416" y="2505456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±36° döndürme. 0.1=tam açının %10'u. Küçük açı tercih edilir.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2139696"/>
            <a:ext cx="28346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2139696"/>
            <a:ext cx="28346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21396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RandomZoom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10144" y="2139696"/>
            <a:ext cx="9601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F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RandomZoom(0.15)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91072" y="2505456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±%15 yaklaşma/uzaklaşma. Nesne ölçek değişimine karşı dayanıklılık.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529584"/>
            <a:ext cx="28346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529584"/>
            <a:ext cx="2834640" cy="292608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35295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 RandomBrightness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84832" y="3529584"/>
            <a:ext cx="9601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F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RandomBrightness(0.2)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3895344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Parlaklık rassal ayarı. Farklı aydınlatma koşullarını simüle eder.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18688" y="3529584"/>
            <a:ext cx="28346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18688" y="3529584"/>
            <a:ext cx="28346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3310128" y="35295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RandomContrast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47488" y="3529584"/>
            <a:ext cx="9601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F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RandomContrast(0.2)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28416" y="3895344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Kontrast değişimi. Düşük ve yüksek kontrastlı görüntülere hazırlık.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81344" y="3529584"/>
            <a:ext cx="28346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81344" y="3529584"/>
            <a:ext cx="28346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6272784" y="35295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RandomCrop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10144" y="3529584"/>
            <a:ext cx="9601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DF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RandomCrop(28,28)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91072" y="3895344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kırpma. Nesnenin farklı pozisyonlarda olmasını simüle eder.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" y="4846320"/>
            <a:ext cx="8631936" cy="1828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Keras Preprocessing Layers eğitim sırasında GPU'da çalışır — veri artırımı model grafiğine dahildir, .predict()'te devre dışı kalır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 — 3 Farklı Yaklaşım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Layers · tf.data map() · CutMix &amp; MixUp (gelişmiş)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5074920" cy="3858768"/>
          </a:xfrm>
          <a:prstGeom prst="rect">
            <a:avLst/>
          </a:prstGeom>
          <a:solidFill>
            <a:srgbClr val="012B20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5074920" cy="256032"/>
          </a:xfrm>
          <a:prstGeom prst="rect">
            <a:avLst/>
          </a:prstGeom>
          <a:solidFill>
            <a:srgbClr val="0123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87552"/>
            <a:ext cx="4910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augmentation_pipeline.py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28016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YÖN 1: Keras Sequential Augmenter ─────────────────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41914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augmenter = keras.Sequential([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55813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layers.RandomFlip('horizontal'),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69712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layers.RandomRotation(0.1),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836115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layers.RandomZoom(0.15),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197510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layers.RandomBrightness(0.2),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114093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layers.RandomContrast(0.2),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25308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name='augmenter')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39207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253105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YÖN 2: tf.data map() pipeline ─────────────────────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267004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@tf.function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2809037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augment(image, label):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294802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= tf.image.random_flip_left_right(image)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308701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= tf.image.random_crop(image, [28,28,3])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3226003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= tf.image.resize(image, [32,32])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36499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= tf.image.random_brightness(image, 0.2)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3503981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= tf.clip_by_value(image, 0.0, 1.0)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364297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image, label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378195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920947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train_ds = (train_ds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405993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.shuffle(5000)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198925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.map(augment, num_parallel_calls=tf.data.AUTOTUNE)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433791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.batch(BATCH_SIZE)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47690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.prefetch(tf.data.AUTOTUNE))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4615891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048" y="475488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YÖN 3: CutMix (mix iki resmi ve etiketi) ───────────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489386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cutmix(img1, lbl1, img2, lbl2, alpha=1.0):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4048" y="503285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 = np.random.beta(alpha, alpha)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048" y="517184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Dikdörtgen bölge cut et ve diğerinden yapıştır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4048" y="5310835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mixed_img, lam*lbl1+(1-lam)*lbl2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0" y="987552"/>
            <a:ext cx="34015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0" y="987552"/>
            <a:ext cx="64008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5650992" y="106070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Sadece Eğitimde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50992" y="135331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YALNIZCA eğitim setine uygulanır. Validation ve test orijinal kalır — yoksa hatalı değerlendirme.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0" y="1956816"/>
            <a:ext cx="34015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1956816"/>
            <a:ext cx="64008" cy="8412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5" name="Text 43"/>
          <p:cNvSpPr/>
          <p:nvPr/>
        </p:nvSpPr>
        <p:spPr>
          <a:xfrm>
            <a:off x="5650992" y="202996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Online Augmentation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50992" y="23225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epoch'ta farklı dönüşüm → etkin veri artışı. model.fit() sırasında her batch farklı görünür.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0" y="2926080"/>
            <a:ext cx="34015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86400" y="2926080"/>
            <a:ext cx="64008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5650992" y="299923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Şiddet Ayarı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650992" y="32918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agresif augmentation underfitting'e yol açar. Doğruluğu izle: val_acc artmıyorsa şiddeti azalt.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0" y="3895344"/>
            <a:ext cx="34015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486400" y="3895344"/>
            <a:ext cx="64008" cy="8412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5650992" y="396849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CutMix / MixUp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50992" y="426110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görüntüyü karıştırır. Etiketler de karışır (soft label). CIFAR-10'da +1-2% accuracy kazandırır.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56032" y="4709160"/>
            <a:ext cx="8631936" cy="29260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6" name="Text 54"/>
          <p:cNvSpPr/>
          <p:nvPr/>
        </p:nvSpPr>
        <p:spPr>
          <a:xfrm>
            <a:off x="402336" y="47091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Augmentation → GPU içi işleme  |  num_parallel_calls=AUTOTUNE → CPU pipeline otomatik optimize  |  prefetch → bekleme süresi sıfır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Bloklar — 'Derin Ağların Derin Sorunu'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· Skip Connection · Bottleneck · ResNet-v1 vs v2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416052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64008" cy="10241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0241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Derin Ağlarda Vanishing Gradient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" y="1335024"/>
            <a:ext cx="3886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katmanlı ağlarda gradyan, geri yayılırken her katmanda küçülür. İlk katmanlara ulaştığında neredeyse sıfır olur. Ağ öğrenemez.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90288" y="987552"/>
            <a:ext cx="429768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987552"/>
            <a:ext cx="64008" cy="10241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0241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Skip Connection (He et al., 2015)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36592" y="133502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+ x → gradyan doğrudan erken katmanlara ulaşır. 'Kimlik fonksiyonu' kısa yol sağlar. 152+ katman eğitilebilir hale gelir.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194560"/>
            <a:ext cx="2834640" cy="24871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194560"/>
            <a:ext cx="2834640" cy="3108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94560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Block (ResNet-18/34)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" y="257860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3×3 → BN → ReLU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" y="2907792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3×3 → BN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" y="3236976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Add(shortcut, x) → ReLU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" y="356616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" y="389534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Parametre: 2 × (3×3×C×C)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" y="422452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Kullanım: Küçük ağlar için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18688" y="2194560"/>
            <a:ext cx="2834640" cy="24871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8688" y="2194560"/>
            <a:ext cx="2834640" cy="3108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3328416" y="2194560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Block (ResNet-50+)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5848" y="257860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1×1 (C→C/4) → BN → ReLU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2907792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3×3 → BN → ReLU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55848" y="3236976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1×1 (C/4→C) → BN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356616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Add(shortcut, x) → ReLU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5848" y="389534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55848" y="422452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Parametre ~4x az, daha derin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81344" y="2194560"/>
            <a:ext cx="2834640" cy="24871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2194560"/>
            <a:ext cx="283464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291072" y="2194560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PreActResNet v2 (Önerilen)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18504" y="257860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 → Conv 3×3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18504" y="2907792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 → Conv 3×3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18504" y="3236976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Add(shortcut, x)  ← ReLU YOK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18504" y="356616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18504" y="389534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Gradyan akışı daha temiz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18504" y="422452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Eğitimde daha stabil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4828032"/>
            <a:ext cx="8631936" cy="20116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2" name="Text 40"/>
          <p:cNvSpPr/>
          <p:nvPr/>
        </p:nvSpPr>
        <p:spPr>
          <a:xfrm>
            <a:off x="402336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Shortcut boyutu farklıysa: Conv 1×1 (stride=2) ile projeksiyon  |  ResNet-50 = 16 Bottleneck blok + stem + head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CNN Mimarileri — Hangisini Seçmeli?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· ResNet · EfficientNet · MobileNet · ConvNeXt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8631936" cy="32918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9875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9875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52928" y="9875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51376" y="9875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Top-1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32704" y="9875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Seçim Kriteri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353312"/>
            <a:ext cx="863193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353312"/>
            <a:ext cx="54864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" y="135331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VGG-16/19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03120" y="135331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52928" y="13533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138M / 143M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51376" y="13533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32704" y="1353312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ama basit. Benchmark için hâlâ kullanılır.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0"/>
            <a:ext cx="8631936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032" y="1828800"/>
            <a:ext cx="54864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" y="182880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03120" y="1828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52928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25.6M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51376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32704" y="182880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standardı. İyi denge. Fine-tuning için ideal.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2304288"/>
            <a:ext cx="863193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" y="2304288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10896" y="230428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103120" y="23042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52928" y="23042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51376" y="23042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32704" y="2304288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Mobil/edge için. Çok hafif, yeterince iyi.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2779776"/>
            <a:ext cx="8631936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4" name="Shape 32"/>
          <p:cNvSpPr/>
          <p:nvPr/>
        </p:nvSpPr>
        <p:spPr>
          <a:xfrm>
            <a:off x="256032" y="2779776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310896" y="277977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103120" y="27797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52928" y="27797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51376" y="27797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32704" y="2779776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Bileşik ölçekleme. Parametre başına en iyi acc.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3255264"/>
            <a:ext cx="863193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56032" y="3255264"/>
            <a:ext cx="54864" cy="45720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42" name="Text 40"/>
          <p:cNvSpPr/>
          <p:nvPr/>
        </p:nvSpPr>
        <p:spPr>
          <a:xfrm>
            <a:off x="310896" y="325526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EfficientNetB4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103120" y="325526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52928" y="325526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19.3M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51376" y="32552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82.9%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632704" y="3255264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doğruluk gerektiğinde tercih edilir.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6032" y="3730752"/>
            <a:ext cx="8631936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8" name="Shape 46"/>
          <p:cNvSpPr/>
          <p:nvPr/>
        </p:nvSpPr>
        <p:spPr>
          <a:xfrm>
            <a:off x="256032" y="3730752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310896" y="373075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2103120" y="37307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852928" y="37307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28.6M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151376" y="37307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82.1%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632704" y="3730752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Transformer'dan ilham. Modern CNN'lerin zirvesi.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" y="4261104"/>
            <a:ext cx="8631936" cy="53035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5" name="Text 53"/>
          <p:cNvSpPr/>
          <p:nvPr/>
        </p:nvSpPr>
        <p:spPr>
          <a:xfrm>
            <a:off x="402336" y="42611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Transfer Learning Rehberi: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02336" y="45262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veri + hızlı sonuç → MobileNetV2  |  Genel kullanım → ResNet-50  |  En yüksek doğruluk → EfficientNetB4+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" y="4846320"/>
            <a:ext cx="8631936" cy="20116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58" name="Text 56"/>
          <p:cNvSpPr/>
          <p:nvPr/>
        </p:nvSpPr>
        <p:spPr>
          <a:xfrm>
            <a:off x="402336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Top-1 değerleri yaklaşıktır; ölçme yöntemi ve eğitim detaylarına göre değişir.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3 Strateji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· Partial Fine-Tuning · Full Fine-Tuning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8631936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256032" cy="1170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335024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" y="1078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(Dondurma)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3898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Pre-trained ağırlıklar dondurulur (trainable=False). Sadece yeni eklenen başlık (head) eğitilir.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17556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Veri azsa (&lt;1K örnek) veya kaynak domain çok benzer olduğunda. Hızlı ve stabil.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4528" y="1042416"/>
            <a:ext cx="4590288" cy="1051560"/>
          </a:xfrm>
          <a:prstGeom prst="rect">
            <a:avLst/>
          </a:prstGeom>
          <a:solidFill>
            <a:srgbClr val="012B20"/>
          </a:solidFill>
          <a:ln/>
        </p:spPr>
      </p:sp>
      <p:sp>
        <p:nvSpPr>
          <p:cNvPr id="13" name="Text 11"/>
          <p:cNvSpPr/>
          <p:nvPr/>
        </p:nvSpPr>
        <p:spPr>
          <a:xfrm>
            <a:off x="4352544" y="1078992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 = EfficientNetB0(weights='imagenet',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52544" y="1220724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include_top=False, input_shape=(224,224,3))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52544" y="1362456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False  # TÜM BLOKLAR DONDURULDU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52544" y="1504188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52544" y="1645920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base_model.output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52544" y="1787652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layers.GlobalAveragePooling2D()(x)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52544" y="1929384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layers.Dense(10, activation='softmax')(x)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304288"/>
            <a:ext cx="8631936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304288"/>
            <a:ext cx="256032" cy="1170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265176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" y="23957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Fine-Tuning (Kısmi Açma)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" y="270662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Üst N bloğu (son katmanlar) açılır, alt katmanlar donuk kalır. İki aşamalı eğitim.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0723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Orta büyüklükte veri (1K–10K) veya domain kısmen farklıysa. Altın standart.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24528" y="2359152"/>
            <a:ext cx="4590288" cy="1051560"/>
          </a:xfrm>
          <a:prstGeom prst="rect">
            <a:avLst/>
          </a:prstGeom>
          <a:solidFill>
            <a:srgbClr val="012B20"/>
          </a:solidFill>
          <a:ln/>
        </p:spPr>
      </p:sp>
      <p:sp>
        <p:nvSpPr>
          <p:cNvPr id="27" name="Text 25"/>
          <p:cNvSpPr/>
          <p:nvPr/>
        </p:nvSpPr>
        <p:spPr>
          <a:xfrm>
            <a:off x="4352544" y="2395728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True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52544" y="2537460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Sadece son 30 katmanı aç: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52544" y="2679192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layer in base_model.layers[:-30]: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52544" y="2820924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layer.trainable = False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52544" y="2962656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Çok küçük LR ile devam et: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52544" y="3104388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model.compile(optimizer=Adam(1e-5), ...)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" y="3621024"/>
            <a:ext cx="8631936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3621024"/>
            <a:ext cx="256032" cy="1170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" y="3968496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1792" y="37124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(Tam Açma)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" y="40233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Tüm ağırlıklar güncellenir. Çok küçük LR (1e-5 veya daha az) zorunlu.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" y="4389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Büyük veri (&gt;10K) veya domain çok farklıysa. Catastrophic forgetting riski var!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24528" y="3675888"/>
            <a:ext cx="4590288" cy="1051560"/>
          </a:xfrm>
          <a:prstGeom prst="rect">
            <a:avLst/>
          </a:prstGeom>
          <a:solidFill>
            <a:srgbClr val="012B20"/>
          </a:solidFill>
          <a:ln/>
        </p:spPr>
      </p:sp>
      <p:sp>
        <p:nvSpPr>
          <p:cNvPr id="40" name="Text 38"/>
          <p:cNvSpPr/>
          <p:nvPr/>
        </p:nvSpPr>
        <p:spPr>
          <a:xfrm>
            <a:off x="4352544" y="3712464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True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52544" y="3854196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Tüm ağ açık — ÇOK KÜÇÜK LR!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52544" y="3995928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Adam(1e-5)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52544" y="4137660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Warmup + Cosine decay önerilir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352544" y="4279392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EarlyStopping şart!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352544" y="4421124"/>
            <a:ext cx="44348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model.compile(optimizer=optimizer, ...)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919472"/>
            <a:ext cx="8631936" cy="20116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7" name="Text 45"/>
          <p:cNvSpPr/>
          <p:nvPr/>
        </p:nvSpPr>
        <p:spPr>
          <a:xfrm>
            <a:off x="402336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İki aşamalı eğitim: Aşama 1) head eğit (büyük LR, ~20 epoch)  →  Aşama 2) fine-tune (küçük LR, ~30 epoch)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Tam Uygulama Kodu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· İki Aşamalı Eğitim · Grad-CAM Hazırlığı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5074920" cy="3858768"/>
          </a:xfrm>
          <a:prstGeom prst="rect">
            <a:avLst/>
          </a:prstGeom>
          <a:solidFill>
            <a:srgbClr val="012B20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5074920" cy="256032"/>
          </a:xfrm>
          <a:prstGeom prst="rect">
            <a:avLst/>
          </a:prstGeom>
          <a:solidFill>
            <a:srgbClr val="0123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87552"/>
            <a:ext cx="4910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transfer_learning.py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28016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AŞAMA 1: Feature Extraction ─────────────────────────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41914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keras.applications.EfficientNetB0(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55813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weights='imagenet',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69712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include_top=False,       # Sınıflandırma başı yok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836115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input_shape=(96,96,3),   # CIFAR-10 büyütülmüş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197510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pooling=None,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114093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25308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base.trainable = False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39207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253105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= keras.Input(shape=(96,96,3))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267004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base(inputs, training=False)  # BN kapalı!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2809037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layers.GlobalAveragePooling2D()(x)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294802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layers.Dropout(0.3)(x)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308701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layers.Dense(256, activation='relu')(x)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3226003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layers.Dropout(0.2)(x)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36499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layers.Dense(10,'softmax')(x)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3503981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keras.Model(inputs, outputs)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364297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LR: 1e-3  |  20 epoch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378195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920947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AŞAMA 2: Fine-Tuning (son 30 katman) ────────────────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405993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base.trainable = True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198925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layer in base.layers[:-30]: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433791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layer.trainable = False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47690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BatchNorm eğitimde DONDURULUR: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4615891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layer in base.layers: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048" y="475488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isinstance(layer, layers.BatchNormalization):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489386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layer.trainable = False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4048" y="503285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LR: 1e-5  |  Cosine Decay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87552"/>
            <a:ext cx="34015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987552"/>
            <a:ext cx="64008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5650992" y="105156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training=False neden kritik?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50992" y="135331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base(inputs, training=False) → BatchNorm ve Dropout katmanlar çıkarım modunda çalışır. Eğitim istatistikleri korunur.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0" y="1956816"/>
            <a:ext cx="34015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0" y="1956816"/>
            <a:ext cx="64008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5650992" y="202082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BatchNorm'u dondurun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50992" y="23225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sırasında BN katmanları dondurulmazsa istatistikler bozulur. Küçük batcih boyutuyla ciddi performans kaybı.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2926080"/>
            <a:ext cx="34015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86400" y="2926080"/>
            <a:ext cx="64008" cy="8412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5650992" y="2990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LR 10-100x küçük olmalı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650992" y="32918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LR'si başlık eğitiminden en az 10x küçük olmalı. 1e-3 → 1e-5. Catastrophic forgetting'i önler.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0" y="3895344"/>
            <a:ext cx="340156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86400" y="3895344"/>
            <a:ext cx="64008" cy="8412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1" name="Text 49"/>
          <p:cNvSpPr/>
          <p:nvPr/>
        </p:nvSpPr>
        <p:spPr>
          <a:xfrm>
            <a:off x="5650992" y="395935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Warmup + EarlyStopping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650992" y="426110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başlangıcında küçük LR'den büyüğe çıkın (warmup). EarlyStopping ile val_acc düşmeye başlayınca dur.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6032" y="4736592"/>
            <a:ext cx="8631936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4" name="Text 52"/>
          <p:cNvSpPr/>
          <p:nvPr/>
        </p:nvSpPr>
        <p:spPr>
          <a:xfrm>
            <a:off x="402336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EfficientNetB0 + 2-aşamalı eğitim → CIFAR-10'da %90+  |  Sıfırdan eğitim → ~%85  |  Fark: 1000 ImageNet sınıfından aktarılan desen bilgisi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— Modelin 'Nereye Baktığını' Görmek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Gradient-weighted Class Activation Mapping · Yorumlanabilirlik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8631936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64008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04241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Grad-CAM, bir görüntüyü sınıflandırırken modelin hangi bölgelere odaklandığını ısı haritası olarak gösterir. Son konvolüsyon katmanının feature map'lerine hedefe göre gradyanlar hesaplanır, ağırlıklı ortalama alınır.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" y="1920240"/>
            <a:ext cx="5074920" cy="2907792"/>
          </a:xfrm>
          <a:prstGeom prst="rect">
            <a:avLst/>
          </a:prstGeom>
          <a:solidFill>
            <a:srgbClr val="012B20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920240"/>
            <a:ext cx="5074920" cy="256032"/>
          </a:xfrm>
          <a:prstGeom prst="rect">
            <a:avLst/>
          </a:prstGeom>
          <a:solidFill>
            <a:srgbClr val="01231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920240"/>
            <a:ext cx="4910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grad_cam.py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21284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compute_gradcam(model, img_array, last_conv_layer, pred_idx=None):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351837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Son conv katmanına + çıkışa erişim modeli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49082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grad_model = keras.Model(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62981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model.inputs,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768803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[model.get_layer(last_conv_layer).output, model.output]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90779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3046781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318577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tf.GradientTape() as tape: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332475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conv_out, preds = grad_model(img_array)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" y="3463747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pred_idx is None: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360273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pred_idx = tf.argmax(preds[0])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3741725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class_channel = preds[:, pred_idx]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88071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4019702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Gradyanları hesapla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4158691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grads = tape.gradient(class_channel, conv_out)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4297680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pooled_grads = tf.reduce_mean(grads, axis=(0,1,2))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4436669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conv_out = conv_out[0]  # Batch boyutunu kaldır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4575658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heatmap = conv_out @ pooled_grads[..., tf.newaxis]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714646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heatmap = tf.squeeze(heatmap)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4853635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heatmap = tf.maximum(heatmap, 0) / (tf.math.reduce_max(heatmap)+1e-8)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992624"/>
            <a:ext cx="4910328" cy="13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F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heatmap.numpy()  # [0,1] normalize ısı haritası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0" y="1920240"/>
            <a:ext cx="340156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1920240"/>
            <a:ext cx="292608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0" y="1920240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852160" y="1984248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Gradyanları Kaydet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52160" y="22402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tf.GradientTape ile son Conv katman çıktısını ve model çıkışını aynı anda hesapla.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2670048"/>
            <a:ext cx="340156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0" y="2670048"/>
            <a:ext cx="292608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0" y="2670048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852160" y="2734056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Pooling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852160" y="2990088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özellik kanalının sınıfa katkısı = gradyanların uzamsal ortalaması.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0" y="3419856"/>
            <a:ext cx="340156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3419856"/>
            <a:ext cx="29260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0" y="3419856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52160" y="3483864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Kombinasyon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852160" y="3739896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map'leri kanal ağırlıklarıyla çarp, topla. Negatif değerleri ReLU ile sıfırla.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0" y="4169664"/>
            <a:ext cx="340156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486400" y="4169664"/>
            <a:ext cx="292608" cy="658368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0" y="4169664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852160" y="4233672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 Haritası Çakıştır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852160" y="4489704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Heatmap'i orijinal resme overlay et. Kırmızı bölgeler modelin odaklandığı yerleri gösterir.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6032" y="4956048"/>
            <a:ext cx="8631936" cy="1828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54" name="Text 52"/>
          <p:cNvSpPr/>
          <p:nvPr/>
        </p:nvSpPr>
        <p:spPr>
          <a:xfrm>
            <a:off x="402336" y="495604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uygulamaları: hatalı tahminlerin analizi · veri kalitesi kontrolü · model güvenilirliği kanıtlama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Uygulamalar — 4 Python Dosyası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Sırasıyla çalıştır · Veri: CIFAR-10 · pip install tensorflow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422452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4224528" cy="347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87552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CNN Temelleri &amp; Mimari Tasarımı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4005072" cy="21945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8988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uygulama_01_cnn_temelleri.py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6824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Conv2D + MaxPool + BN + GAP tam mimari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" y="18836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Filtre boyutu / sayısı ablasyon çalışması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" y="2084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Stride vs Pooling karşılaştırması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22860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map görselleştirme (conv1 çıktıları)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" y="24871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Parametre sayısı ve FLOPs analizi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90872" y="987552"/>
            <a:ext cx="422452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2" y="987552"/>
            <a:ext cx="4224528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987552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Augmentation Stratejileri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389888"/>
            <a:ext cx="4005072" cy="21945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38988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uygulama_02_data_augmentation.py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55464" y="16824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tf.data pipeline + prefetch + cache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55464" y="18836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Keras Preprocessing Layers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5464" y="2084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CutMix &amp; MixUp implementasyonu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55464" y="22860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Augmentation şiddeti ablasyonu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55464" y="24871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 accuracy vs augmentation karşılaştırması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017520"/>
            <a:ext cx="422452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017520"/>
            <a:ext cx="4224528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01752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İleri CNN: ResNet &amp; DepthwiseSep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419856"/>
            <a:ext cx="4005072" cy="21945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41985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uygulama_03_ileri_cnn.py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" y="37124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Basic ve Bottleneck ResBlock'u elle inşa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" y="3913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PreActResNet v2 implementasyonu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0624" y="4114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DepthwiseSeparableConv vs Conv2D karşılaştırması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Channel Attention (SE Block) modülü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" y="45171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Parametre başına accuracy analizi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90872" y="3017520"/>
            <a:ext cx="422452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90872" y="3017520"/>
            <a:ext cx="4224528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01752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Transfer Learning &amp; Grad-CAM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00600" y="3419856"/>
            <a:ext cx="4005072" cy="21945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41985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uygulama_04_transfer_learning.py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55464" y="37124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EfficientNetB0 3 strateji karşılaştırması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55464" y="3913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2-aşamalı eğitim (head → fine-tune)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55464" y="4114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Catastrophic forgetting demosu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55464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Grad-CAM ısı haritası görselleştirme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55464" y="45171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Doğru/yanlış tahmin analizi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6032" y="4919472"/>
            <a:ext cx="8631936" cy="347472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7" name="Text 45"/>
          <p:cNvSpPr/>
          <p:nvPr/>
        </p:nvSpPr>
        <p:spPr>
          <a:xfrm>
            <a:off x="402336" y="49194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tensorflow scikit-learn numpy matplotlib opencv-python  (+ CIFAR-10 otomatik indirilir)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560320"/>
            <a:ext cx="3474720" cy="3474720"/>
          </a:xfrm>
          <a:prstGeom prst="line">
            <a:avLst/>
          </a:prstGeom>
          <a:solidFill>
            <a:srgbClr val="0A3D2B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457200"/>
            <a:ext cx="2743200" cy="2743200"/>
          </a:xfrm>
          <a:prstGeom prst="line">
            <a:avLst/>
          </a:prstGeom>
          <a:solidFill>
            <a:srgbClr val="063D2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 Cumartesi Tamamlandı!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kazanımları: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Conv2D, Feature Map, Pooling, GAP tam kavradık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228600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Augmentation pipeline + CutMix/MixUp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ResNet Basic/Bottleneck/PreAct bloklarını yazdık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274320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DepthwiseSeparableConv — parametre tasarrufu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Transfer Learning 3 strateji + 2 aşamalı eğitim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83480" y="320040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Grad-CAM ile model yorumlanabilirliği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420624"/>
          </a:xfrm>
          <a:prstGeom prst="rect">
            <a:avLst/>
          </a:prstGeom>
          <a:solidFill>
            <a:srgbClr val="0A3D2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062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Hafta 2 Pazar: RNN · LSTM · Attention · Sequence Modeling · Zaman Serisi Tahmini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2599</Words>
  <Application>Microsoft Office PowerPoint</Application>
  <PresentationFormat>Ekran Gösterisi (16:9)</PresentationFormat>
  <Paragraphs>437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2 Cumartesi — CNN &amp; Transfer Learning</dc:title>
  <dc:subject>PptxGenJS Presentation</dc:subject>
  <dc:creator>PptxGenJS</dc:creator>
  <cp:lastModifiedBy>lenovo3</cp:lastModifiedBy>
  <cp:revision>2</cp:revision>
  <dcterms:created xsi:type="dcterms:W3CDTF">2026-02-27T15:12:23Z</dcterms:created>
  <dcterms:modified xsi:type="dcterms:W3CDTF">2026-02-27T22:17:22Z</dcterms:modified>
</cp:coreProperties>
</file>