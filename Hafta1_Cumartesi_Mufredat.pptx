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sayılan Bölüm" id="{ECCD49B7-AD27-4125-9CA3-3AA931A16C34}">
          <p14:sldIdLst>
            <p14:sldId id="256"/>
            <p14:sldId id="268"/>
            <p14:sldId id="257"/>
          </p14:sldIdLst>
        </p14:section>
        <p14:section name="Başlıksız Bölüm" id="{76CFA3A1-713E-4132-98A7-CE748CE0A265}">
          <p14:sldIdLst>
            <p14:sldId id="258"/>
            <p14:sldId id="259"/>
            <p14:sldId id="260"/>
            <p14:sldId id="261"/>
          </p14:sldIdLst>
        </p14:section>
        <p14:section name="Başlıksız Bölüm" id="{875BB25C-4490-4E0B-BFC0-E1E9A02D2536}">
          <p14:sldIdLst>
            <p14:sldId id="262"/>
            <p14:sldId id="269"/>
            <p14:sldId id="263"/>
          </p14:sldIdLst>
        </p14:section>
        <p14:section name="Başlıksız Bölüm" id="{53AB37A8-C7C1-4EC1-A9B4-A6DBCCFABFFA}">
          <p14:sldIdLst>
            <p14:sldId id="264"/>
            <p14:sldId id="265"/>
          </p14:sldIdLst>
        </p14:section>
        <p14:section name="Başlıksız Bölüm" id="{C97D8372-173C-4E15-84A4-2348D4FFFD77}">
          <p14:sldIdLst>
            <p14:sldId id="266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69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06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40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18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0" y="18288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FFFFFF">
                    <a:alpha val="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5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İLERİ DÜZEY UYGULAMALI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tr-TR" sz="5200" b="1" dirty="0" smtClean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8412480" cy="2743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74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· CUMARTESİ</a:t>
            </a:r>
            <a:r>
              <a:rPr lang="en-US" sz="14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Scikit-Learn Pipeline → Advanced RF → SHAP → Mini Proje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— 17:00  ·  7 Saat Net Eğitim  ·  4 Uygulama Bloğu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Planı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· Cumartesi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572768" cy="1389888"/>
          </a:xfrm>
          <a:prstGeom prst="rect">
            <a:avLst/>
          </a:prstGeom>
          <a:solidFill>
            <a:srgbClr val="64748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064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801368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&amp; Kurulum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93392" y="1051560"/>
            <a:ext cx="1572768" cy="1389888"/>
          </a:xfrm>
          <a:prstGeom prst="rect">
            <a:avLst/>
          </a:prstGeom>
          <a:solidFill>
            <a:srgbClr val="2563E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1064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–10: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3441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93392" y="1801368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Ön İşleme Teorisi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12464" y="11064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10:30–10:45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12464" y="13441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12464" y="1801368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Kısa Mola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12464" y="1060704"/>
            <a:ext cx="1572768" cy="1389888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12464" y="1115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–11:45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12464" y="135331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12464" y="1810512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ColumnTransf.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1572768" cy="1389888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–13: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9443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74320" y="3401568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31536" y="1060704"/>
            <a:ext cx="1572768" cy="1389888"/>
          </a:xfrm>
          <a:prstGeom prst="rect">
            <a:avLst/>
          </a:prstGeom>
          <a:solidFill>
            <a:srgbClr val="AAAAA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31536" y="1115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:00–1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29443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31536" y="1810512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 Öğle Arası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93392" y="2651760"/>
            <a:ext cx="1572768" cy="1389888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93392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29443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993392" y="3401568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Tuning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12464" y="2651760"/>
            <a:ext cx="1572768" cy="1389888"/>
          </a:xfrm>
          <a:prstGeom prst="rect">
            <a:avLst/>
          </a:prstGeom>
          <a:solidFill>
            <a:srgbClr val="EA580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12464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15:00–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12464" y="29443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712464" y="3401568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Görselleştirme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31536" y="2651760"/>
            <a:ext cx="1572768" cy="1389888"/>
          </a:xfrm>
          <a:prstGeom prst="rect">
            <a:avLst/>
          </a:prstGeom>
          <a:solidFill>
            <a:srgbClr val="1B2A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31536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tr-TR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31536" y="29443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431536" y="3401568"/>
            <a:ext cx="1572768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&amp; </a:t>
            </a:r>
            <a:r>
              <a:rPr lang="tr-TR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</a:t>
            </a:r>
          </a:p>
          <a:p>
            <a:pPr marL="0" indent="0" algn="ctr">
              <a:buNone/>
            </a:pPr>
            <a:r>
              <a:rPr lang="tr-TR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0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0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27526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GÜN PLANI — Hafta 1 Cumartesi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82880" y="1965960"/>
            <a:ext cx="877824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GÜN SONU ÇIKTILAR: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8600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Çalışan preprocessing pipeline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SHAP görselleştirilmiş RF modeli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Uçtan uca proje notebook'u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651760"/>
            <a:ext cx="1554480" cy="91440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576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365760" y="3172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Bloğu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84832" y="2651760"/>
            <a:ext cx="1554480" cy="91440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084832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2084832" y="3172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Net Eğitim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03904" y="2651760"/>
            <a:ext cx="1554480" cy="91440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803904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3803904" y="3172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Python Kodu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22976" y="2651760"/>
            <a:ext cx="1554480" cy="91440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22976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5522976" y="3172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42048" y="2651760"/>
            <a:ext cx="1554480" cy="91440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242048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7242048" y="3172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Grafik Türü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2880" y="4663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Gereksinimler: Python 3.10+  ·  scikit-learn 1.4+  ·  XGBoost  ·  SHAP  ·  pandas  ·  matplotlib  ·  seaborn</a:t>
            </a:r>
            <a:endParaRPr lang="en-US" sz="1100" dirty="0"/>
          </a:p>
        </p:txBody>
      </p:sp>
      <p:sp>
        <p:nvSpPr>
          <p:cNvPr id="52" name="Shape 40"/>
          <p:cNvSpPr/>
          <p:nvPr/>
        </p:nvSpPr>
        <p:spPr>
          <a:xfrm>
            <a:off x="213625" y="1078992"/>
            <a:ext cx="859536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3" name="Text 41"/>
          <p:cNvSpPr/>
          <p:nvPr/>
        </p:nvSpPr>
        <p:spPr>
          <a:xfrm>
            <a:off x="396505" y="10789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Gün Sonu Hedef: Çalışan Pipeline + Eğitimli RF + SHAP Görselleştirmeleri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GELİŞMİŞ VERİ ÖN İŞLEME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4114800" cy="365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Ham Veri Sorunları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Eksik Değerler (NaN)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eğitemez veya hatalı tahmin yapar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Farklı Ölçekler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39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[0–1]  vs  Feature 2: [0–100.000]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505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Kategorik Sütunlar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706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sayısal girdi bekler, string değil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0723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Aykırı Değerler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273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eğitimini bozar, ağırlıkları çarpıtır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6393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Data Leakage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840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verisinin eğitime sızması, yapay yüksek skor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206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Feature Engineering Eksikliği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407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değişkenler yerine türetilmiş özellikler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2976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14400"/>
            <a:ext cx="429768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914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Scikit-Learn Çözümleri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1371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SimpleImputer / IterativeImputer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5727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/ most_frequent / constant stratejisi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9385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StandardScaler / RobustScaler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1396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z-score; aykırı değere dayanıklı IQR tabanlı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50545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OneHotEncoder / OrdinalEncoder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7066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vs ordinal kategorik dönüşüm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0723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RobustScaler + Clip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273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Aykırı değerleri sınırla, ölçekle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6393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Pipeline içinde fit/transform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38404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 test tutarlı dönüştürülür, leak yok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42062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FunctionTransformer / Custom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4074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dönüşüm mantığını pipeline'a entegre 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15968" y="2560320"/>
            <a:ext cx="329184" cy="329184"/>
          </a:xfrm>
          <a:prstGeom prst="rect">
            <a:avLst/>
          </a:prstGeom>
          <a:solidFill>
            <a:srgbClr val="0097A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15968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CUSTOM TRANSFORMER &amp;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5303520" cy="40233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530352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custom_transformer.py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sklearn.base import BaseEstimator, TransformerMixin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147218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6824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189280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OutlierClipper(BaseEstimator, TransformerMixin):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10312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lower=0.01, upper=0.99):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231343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self.lower = lower; self.upper = upper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52374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73405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fit(self, X, y=None):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294436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self.lower_ = np.quantile(X, self.lower, axis=0)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15468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self.upper_ = np.quantile(X, self.upper, axis=0)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336499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357530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378561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transform(self, X):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399592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np.clip(X, self.lower_, self.upper_)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0" y="960120"/>
            <a:ext cx="32918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960120"/>
            <a:ext cx="73152" cy="1143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1051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BaseEstimator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06440" y="1371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get_params() / set_params() otomatik gelir; GridSearchCV ile uyumlu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286000"/>
            <a:ext cx="32918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0" y="2286000"/>
            <a:ext cx="73152" cy="11430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2377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TransformerMixin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06440" y="26974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fit_transform() ücretsiz elde edilir; Pipeline ile sorunsuz çalışır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611880"/>
            <a:ext cx="32918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0" y="3611880"/>
            <a:ext cx="73152" cy="11430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1" name="Text 29"/>
          <p:cNvSpPr/>
          <p:nvPr/>
        </p:nvSpPr>
        <p:spPr>
          <a:xfrm>
            <a:off x="5806440" y="3703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FunctionTransformer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06440" y="40233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lambda dönüşümleri için; log1p, sqrt, vb. hızlı sarmalama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4023360"/>
            <a:ext cx="3291840" cy="86868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60720" y="4069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Pipeline Entegrasyonu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60720" y="4315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OutlierClipper() → StandardScaler() → RF()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SCIKIT-LEARN PIPELINE &amp; COLUMNTRANSFORMER MİMARİSİ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554480" cy="292608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554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yaş (num)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8600" y="1252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gelir (num)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8600" y="1545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şehir (cat)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18379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meslek (cat)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2130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eksik...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" y="2423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37360" y="2331720"/>
            <a:ext cx="457200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86000" y="8686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0" y="868680"/>
            <a:ext cx="3840480" cy="34747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95728" y="1298448"/>
            <a:ext cx="1691640" cy="260604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95728" y="1298448"/>
            <a:ext cx="169164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2395728" y="1298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 Branch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87168" y="1627632"/>
            <a:ext cx="15087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87168" y="1627632"/>
            <a:ext cx="1508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SimpleImputer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2340864"/>
            <a:ext cx="15087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87168" y="2340864"/>
            <a:ext cx="1508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OutlierClipper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(IQR)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87168" y="3054096"/>
            <a:ext cx="15087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87168" y="3054096"/>
            <a:ext cx="1508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StandardScaler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(z-score)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24528" y="1298448"/>
            <a:ext cx="1783080" cy="260604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24528" y="1298448"/>
            <a:ext cx="1783080" cy="2560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8" name="Text 26"/>
          <p:cNvSpPr/>
          <p:nvPr/>
        </p:nvSpPr>
        <p:spPr>
          <a:xfrm>
            <a:off x="4224528" y="1298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Branch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15968" y="1627632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15968" y="1627632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SimpleImputer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(most_frequent)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15968" y="2340864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15968" y="2340864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OneHotEncoder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(handle_unknown)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15968" y="3054096"/>
            <a:ext cx="16002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315968" y="3054096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(isteğe bağlı)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TargetEncoder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675120" y="1371600"/>
            <a:ext cx="2286000" cy="192024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7512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67512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pipeline.fit(X_train, y_train)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pipeline.predict(X_test)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7160" y="4023360"/>
            <a:ext cx="6687710" cy="73152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37160" y="4023360"/>
            <a:ext cx="73152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292608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Pipeline Avantajı: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2608" y="4343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 sadece X_train üzerinde çağrılır → transform() X_test üzerinde learnt parametrelerle çalışır → Data Leakage SIFIR!</a:t>
            </a:r>
            <a:endParaRPr lang="en-US" sz="1050" dirty="0"/>
          </a:p>
        </p:txBody>
      </p:sp>
      <p:sp>
        <p:nvSpPr>
          <p:cNvPr id="44" name="Text 7"/>
          <p:cNvSpPr/>
          <p:nvPr/>
        </p:nvSpPr>
        <p:spPr>
          <a:xfrm>
            <a:off x="6824870" y="3429000"/>
            <a:ext cx="2392282" cy="1506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veri setlerinde sütunlar homojen değildir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 ve kategorik sütunlar farklı işleme gerektirir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ile birleştirilince fit/transform otomatik yönetilir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get_feature_names_out() ile feature adları takip edilir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full_pipeline.py  —  Scikit-Learn Pipeline + ColumnTransformer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749808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82880" y="946404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sklearn.compose import ColumnTransformer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StandardScaler, OneHotEncoder, RobustScaler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82880" y="1339596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sklearn.impute import SimpleImputer, IterativeImputer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82880" y="1536192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RandomForestClassifier, GradientBoostingClassifier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82880" y="1732788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82880" y="1929384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--- 1. Kolon türlerini tanımla ---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82880" y="2125980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num_cols = ['age', 'balance', 'duration', 'campaign', 'pdays', 'previous']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82880" y="2322576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cat_cols = ['job', 'marital', 'education', 'contact', 'poutcome']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82880" y="2519172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82880" y="2715768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--- 2. Numerik pipeline (gelişmiş) ---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82880" y="2912364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numeric_pipeline = Pipeline([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82880" y="3108960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('imputer', IterativeImputer(max_iter=10, random_state=42)),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82880" y="3305556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('clipper', OutlierClipper(lower=0.01, upper=0.99)),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82880" y="3502152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('scaler',  RobustScaler())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82880" y="3698748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82880" y="3895344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82880" y="4091940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--- 3. Kategorik pipeline ---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82880" y="4288536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categorical_pipeline = Pipeline([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82880" y="4485132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('imputer', SimpleImputer(strategy='most_frequent')),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82880" y="4681728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('encoder', OneHotEncoder(handle_unknown='ignore', sparse_output=False))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82880" y="4878324"/>
            <a:ext cx="8778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FOREST: İLERİ DÜZEY ANLAMA &amp; HİPERPARAMETRE OPTİMİZASYONU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32004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3200400" cy="34747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RF Anatomisi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301752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Bootstrap Sampling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ağaç farklı veri örneği alır (%63.2)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019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Feature Subsampling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1031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split'te max_features kadar özellik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301752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4323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Bagging → Paralel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6334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Ağaçlar bağımsız; Boosting'den farklı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626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OOB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1638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Out-of-bag, ücretsiz validation tahmincisi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301752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4930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Gini vs Entropy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69417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bölünme kalitesi metrikleri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0233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min_samples_leaf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2245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kontrolü için kritik parametre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914400"/>
            <a:ext cx="5440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914400"/>
            <a:ext cx="5440680" cy="3474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91440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GridSearchCV + Cross-Validation Stratejisi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1325880"/>
            <a:ext cx="5349240" cy="2560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1344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13441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Denenen Değerler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134416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Anlama Gelir?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1645920"/>
            <a:ext cx="5349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16824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168249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100, 200, 500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16824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Fazla ağaç = daha az variance, ama yavaş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566160" y="2121408"/>
            <a:ext cx="5349240" cy="438912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21579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215798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None, 10, 20, 30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21579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= tam büyüme; overfitting riski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66160" y="2596896"/>
            <a:ext cx="5349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611880" y="26334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37760" y="26334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2, 5, 10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09360" y="2633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Bölünme için min örnek; yüksek → underfitting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566160" y="3072384"/>
            <a:ext cx="5349240" cy="438912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5" name="Text 43"/>
          <p:cNvSpPr/>
          <p:nvPr/>
        </p:nvSpPr>
        <p:spPr>
          <a:xfrm>
            <a:off x="361188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37760" y="31089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0936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 min örneği; regularizasyon etkisi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566160" y="3547872"/>
            <a:ext cx="5349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611880" y="35844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37760" y="358444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sqrt, log2, 0.5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09360" y="35844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 = √p tercih edilir sınıflandırmada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566160" y="4023360"/>
            <a:ext cx="5349240" cy="438912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53" name="Text 51"/>
          <p:cNvSpPr/>
          <p:nvPr/>
        </p:nvSpPr>
        <p:spPr>
          <a:xfrm>
            <a:off x="3611880" y="40599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937760" y="40599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None, balanced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09360" y="40599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 veri için balanced kullan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Değerlendirme &amp; GridSearchCV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ile Güvenilir Hiperparametre Seçimi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64008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StratifiedKFold(n_splits=5)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63040"/>
            <a:ext cx="65836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" y="146304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146304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523744" y="146304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18688" y="146304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822192" y="146304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 (val)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" y="164592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3856" y="1645920"/>
            <a:ext cx="65836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164592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23744" y="164592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18688" y="164592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822192" y="16459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8912" y="182880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" y="182880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1828800"/>
            <a:ext cx="65836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Shape 22"/>
          <p:cNvSpPr/>
          <p:nvPr/>
        </p:nvSpPr>
        <p:spPr>
          <a:xfrm>
            <a:off x="2523744" y="182880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18688" y="182880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822192" y="18288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" y="201168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33856" y="201168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201168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Shape 28"/>
          <p:cNvSpPr/>
          <p:nvPr/>
        </p:nvSpPr>
        <p:spPr>
          <a:xfrm>
            <a:off x="2523744" y="2011680"/>
            <a:ext cx="65836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Shape 29"/>
          <p:cNvSpPr/>
          <p:nvPr/>
        </p:nvSpPr>
        <p:spPr>
          <a:xfrm>
            <a:off x="3218688" y="201168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3822192" y="20116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8912" y="219456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3856" y="219456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219456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34"/>
          <p:cNvSpPr/>
          <p:nvPr/>
        </p:nvSpPr>
        <p:spPr>
          <a:xfrm>
            <a:off x="2523744" y="2194560"/>
            <a:ext cx="6583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3218688" y="2194560"/>
            <a:ext cx="658368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3822192" y="21945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8912" y="23591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fold'da bir bölüm validation, kalanlar eğitim. 5 farklı skor alınır, ortalaması raporlanır.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26280" y="1051560"/>
            <a:ext cx="43434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26280" y="1051560"/>
            <a:ext cx="64008" cy="1508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4681728" y="1097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Akışı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18304" y="10515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param_grid tanımla: denenecek değerler sözlüğü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kombinasyon için CV skoru hesapla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CV skorlu parametreleri seç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X_train üzerinde en iyi modeli yeniden eğit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2743200"/>
            <a:ext cx="859536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2743200"/>
            <a:ext cx="859536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gridsearch.py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3044952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GridSearchCV, StratifiedKFold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" y="3180283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315614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450946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'model__n_estimators': [50, 100, 200],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11480" y="3586277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'model__max_depth':    [None, 10, 20],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3721608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'model__max_features': ['sqrt', 'log2']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" y="3856939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992270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127602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= StratifiedKFold(n_splits=5, shuffle=True, random_state=42)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1480" y="4262933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GridSearchCV(full_pipeline, param_grid, cv=cv, scoring='roc_auc', n_jobs=-1)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1480" y="4398264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gs.fit(X_train, y_train)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3595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print('En iyi params:', gs.best_params_)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1480" y="4668926"/>
            <a:ext cx="83210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print('CV AUC:', gs.best_score_.round(4))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53688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MODEL KARŞILAŞTIRMA: Random Forest vs XGBoost vs GradientBoosting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320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8643"/>
            <a:ext cx="384048" cy="1272845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0043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1430122"/>
            <a:ext cx="384048" cy="1331366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20152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17320" y="1459382"/>
            <a:ext cx="384048" cy="1302106"/>
          </a:xfrm>
          <a:prstGeom prst="rect">
            <a:avLst/>
          </a:prstGeom>
          <a:solidFill>
            <a:srgbClr val="F57C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123078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74520" y="1591056"/>
            <a:ext cx="384048" cy="1170432"/>
          </a:xfrm>
          <a:prstGeom prst="rect">
            <a:avLst/>
          </a:prstGeom>
          <a:solidFill>
            <a:srgbClr val="78909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74520" y="136245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914400"/>
            <a:ext cx="1920240" cy="320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1547165"/>
            <a:ext cx="384048" cy="1214323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51760" y="1318565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1459382"/>
            <a:ext cx="384048" cy="1302106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08960" y="123078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66160" y="1503274"/>
            <a:ext cx="384048" cy="1258214"/>
          </a:xfrm>
          <a:prstGeom prst="rect">
            <a:avLst/>
          </a:prstGeom>
          <a:solidFill>
            <a:srgbClr val="F57C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0" y="127467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1678838"/>
            <a:ext cx="384048" cy="1082650"/>
          </a:xfrm>
          <a:prstGeom prst="rect">
            <a:avLst/>
          </a:prstGeom>
          <a:solidFill>
            <a:srgbClr val="78909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23360" y="145023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1920240" cy="320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430122"/>
            <a:ext cx="384048" cy="1331366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20152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57800" y="1386230"/>
            <a:ext cx="384048" cy="1375258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57800" y="115763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15000" y="1400861"/>
            <a:ext cx="384048" cy="1360627"/>
          </a:xfrm>
          <a:prstGeom prst="rect">
            <a:avLst/>
          </a:prstGeom>
          <a:solidFill>
            <a:srgbClr val="F57C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15000" y="1172261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1532534"/>
            <a:ext cx="384048" cy="1228954"/>
          </a:xfrm>
          <a:prstGeom prst="rect">
            <a:avLst/>
          </a:prstGeom>
          <a:solidFill>
            <a:srgbClr val="78909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72200" y="130393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914400"/>
            <a:ext cx="1920240" cy="320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Speed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949440" y="1371600"/>
            <a:ext cx="384048" cy="1389888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49440" y="11430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06640" y="1766621"/>
            <a:ext cx="384048" cy="994867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06640" y="1538021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63840" y="1708099"/>
            <a:ext cx="384048" cy="1053389"/>
          </a:xfrm>
          <a:prstGeom prst="rect">
            <a:avLst/>
          </a:prstGeom>
          <a:solidFill>
            <a:srgbClr val="F57C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863840" y="1479499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321040" y="1313078"/>
            <a:ext cx="384048" cy="1448410"/>
          </a:xfrm>
          <a:prstGeom prst="rect">
            <a:avLst/>
          </a:prstGeom>
          <a:solidFill>
            <a:srgbClr val="78909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321040" y="108447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2880360"/>
            <a:ext cx="201168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704088" y="2871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06040" y="2880360"/>
            <a:ext cx="201168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7" name="Text 45"/>
          <p:cNvSpPr/>
          <p:nvPr/>
        </p:nvSpPr>
        <p:spPr>
          <a:xfrm>
            <a:off x="2852928" y="2871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2880360"/>
            <a:ext cx="201168" cy="20116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9" name="Text 47"/>
          <p:cNvSpPr/>
          <p:nvPr/>
        </p:nvSpPr>
        <p:spPr>
          <a:xfrm>
            <a:off x="5001768" y="2871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2880360"/>
            <a:ext cx="201168" cy="201168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51" name="Text 49"/>
          <p:cNvSpPr/>
          <p:nvPr/>
        </p:nvSpPr>
        <p:spPr>
          <a:xfrm>
            <a:off x="7150608" y="2871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3246120"/>
            <a:ext cx="8778240" cy="5029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3" name="Shape 51"/>
          <p:cNvSpPr/>
          <p:nvPr/>
        </p:nvSpPr>
        <p:spPr>
          <a:xfrm>
            <a:off x="182880" y="3246120"/>
            <a:ext cx="54864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3282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XGBoost En Yüksek Skor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880360" y="3282696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0.94 ile lider; ancak tuning hassasiyet ister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2880" y="3840480"/>
            <a:ext cx="8778240" cy="5029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57" name="Shape 55"/>
          <p:cNvSpPr/>
          <p:nvPr/>
        </p:nvSpPr>
        <p:spPr>
          <a:xfrm>
            <a:off x="182880" y="3840480"/>
            <a:ext cx="54864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8" name="Text 56"/>
          <p:cNvSpPr/>
          <p:nvPr/>
        </p:nvSpPr>
        <p:spPr>
          <a:xfrm>
            <a:off x="320040" y="3877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RF Hız+Kalite Dengesi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880360" y="3877056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parametrelerle bile güçlü baseline sağlar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82880" y="4434840"/>
            <a:ext cx="8778240" cy="5029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1" name="Shape 59"/>
          <p:cNvSpPr/>
          <p:nvPr/>
        </p:nvSpPr>
        <p:spPr>
          <a:xfrm>
            <a:off x="182880" y="4434840"/>
            <a:ext cx="54864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2" name="Text 60"/>
          <p:cNvSpPr/>
          <p:nvPr/>
        </p:nvSpPr>
        <p:spPr>
          <a:xfrm>
            <a:off x="320040" y="4471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CV ile Güvenilir Karşılaştırma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880360" y="4471416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StratifiedKFold(n_splits=5) ile leak-free değerlendirme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SHAP: SHapley Additive exPlanations — Model Kararlarını Anlamak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Oyun Teorisi Temelli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özelliğin modelin tahminindeki katkısını adil bir şekilde paylaştırır. Shapley değerleri garanti özellikler: Etkililik, Simetri, Kukla, Additivity.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384048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ϕ(xᵢ)  =  φ₀  +  Σ SHAP(feature j)  =  f(x)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384048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697480"/>
            <a:ext cx="64008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340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TreeExplainer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 için; O(TL²D) hız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384048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3200400"/>
            <a:ext cx="64008" cy="43891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369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KernelExplainer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198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Model-agnostik; herhangi ML modeli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384048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703320"/>
            <a:ext cx="64008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398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LinearExplainer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227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modeller için optimize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206240"/>
            <a:ext cx="3840480" cy="43891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4206240"/>
            <a:ext cx="64008" cy="43891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428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GradientExplainer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2569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için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914400"/>
            <a:ext cx="44805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914400"/>
            <a:ext cx="448056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9144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Temel SHAP Görselleştirmesi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1325880"/>
            <a:ext cx="4297680" cy="502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13624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1️⃣ summary_plot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136245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17720" y="15819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Tüm örnekler için feature sıralaması; bee-swarm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1892808"/>
            <a:ext cx="4297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192938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2️⃣ bar_plot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19293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|SHAP|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7720" y="21488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etkili özellikleri sıralar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459736"/>
            <a:ext cx="4297680" cy="502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24963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3️⃣ force_plot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24963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Bireysel tahmin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17720" y="2715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Tek örnek için pozitif/negatif katkı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3026664"/>
            <a:ext cx="4297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30632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4️⃣ waterfall_plot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30632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Kademeli katkı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17720" y="32826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Temel değerden tahmine yolculuk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3593592"/>
            <a:ext cx="4297680" cy="502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5" name="Text 43"/>
          <p:cNvSpPr/>
          <p:nvPr/>
        </p:nvSpPr>
        <p:spPr>
          <a:xfrm>
            <a:off x="4617720" y="363016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5️⃣ dependence_plot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3630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 analizi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17720" y="384962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Feature değeri vs SHAP + renk=interaction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4160520"/>
            <a:ext cx="4297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617720" y="419709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6️⃣ heatmap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09360" y="41970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karşılaştırma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17720" y="44165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Birden fazla özellik / örneği aynı anda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shap_analysis.py  —  Tam SHAP Analizi Kodu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749808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shap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82880" y="976579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82880" y="1203350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82880" y="1430122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Explainer oluştur (TreeExplainer = hızlı)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82880" y="1656893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explainer = shap.TreeExplainer(best_rf_model)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82880" y="1883664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shap_values = explainer.shap_values(X_test)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82880" y="2110435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82880" y="2337206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Global: Summary Plot (bee-swarm)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82880" y="2563978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shap.summary_plot(shap_values[1], X_test,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82880" y="2790749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feature_names=feature_names,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82880" y="3017520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max_display=15)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82880" y="3244291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82880" y="3471062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Global: Bar Plot (ortalama |SHAP|)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82880" y="3697834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shap.summary_plot(shap_values[1], X_test,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82880" y="3924605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plot_type='bar', max_display=15)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82880" y="4151376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82880" y="4378147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Interaction: Dependence Plot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82880" y="4604918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shap.dependence_plot('duration', shap_values[1],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82880" y="4831690"/>
            <a:ext cx="438912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X_test, interaction_index='age')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663440" y="749808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Local: Force Plot (tek örnek)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663440" y="976579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42  # analiz edilecek örnek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663440" y="1203350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shap.force_plot(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663440" y="1430122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explainer.expected_value[1],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663440" y="1656893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shap_values[1][idx],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663440" y="1883664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X_test.iloc[idx],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663440" y="2110435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matplotlib=True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663440" y="2337206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663440" y="2563978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663440" y="2790749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Local: Waterfall Plot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663440" y="3017520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shap.waterfall_plot(shap.Explanation(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663440" y="3244291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values=shap_values[1][idx],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663440" y="3471062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base_values=explainer.expected_value[1],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663440" y="3697834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data=X_test.iloc[idx],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663440" y="3924605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feature_names=feature_names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663440" y="4151376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663440" y="4378147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663440" y="4604918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7. SHAP Interaction Values (gelişmiş)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663440" y="4831690"/>
            <a:ext cx="42976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shap_interaction = explainer.shap_interaction_values(X_test[:100])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4617720" y="749808"/>
            <a:ext cx="0" cy="4206240"/>
          </a:xfrm>
          <a:prstGeom prst="line">
            <a:avLst/>
          </a:prstGeom>
          <a:noFill/>
          <a:ln w="12700">
            <a:solidFill>
              <a:srgbClr val="444444"/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MİNİ PROJE: Bank Marketing Churn Prediction — Uçtan Uca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425196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1  —  Veri Yükleme &amp; EDA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UCI Bank Marketing veri seti (45.211 satır)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Eksik değer &amp; dağılım analizi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677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 imbalance kontrolü (%88 No / %12 Yes)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251960" cy="3657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914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2  —  Preprocessing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IterativeImputer + OutlierClipper + RobustScaler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105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OneHotEncoder kategorik sütunlar için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2677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ColumnTransformer ile birleştirme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97180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971800"/>
            <a:ext cx="4251960" cy="3657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718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3  —  Model Eğitimi &amp; Karşılaştırma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4107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RF, XGBoost, GradientBoosting pipeline'a ekle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8679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StratifiedKFold(5) cross-validation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3251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class_weight='balanced' ile dengesiz veri çözümü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4251960" cy="365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9718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4  —  SHAP Analizi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4107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summary_plot ile en kritik 15 feature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8679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force_plot ile 3 farklı müşteri profili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3251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dependence_plot: 'duration' vs 'age' etkileşimi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4663440"/>
            <a:ext cx="8778240" cy="38404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 Çıktılar: best_pipeline.pkl · shap_summary.png · shap_force_plot.html · model_comparison.csv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24028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257" y="14904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4200" b="1" dirty="0" smtClean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</a:t>
            </a:r>
            <a:r>
              <a:rPr lang="en-US" sz="4200" b="1" dirty="0" smtClean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CUMARTESİ </a:t>
            </a:r>
            <a:r>
              <a:rPr lang="en-US" sz="4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TAMAMLANDI!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Öğrendikleriniz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 Transformer &amp; Advanced Pipeline kurma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IterativeImputer + RobustScaler + OutlierClipper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310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RF Hiperparametre optimizasyonu + CV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3310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XGBoost karşılaştırma &amp; model seçimi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78561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SHAP ile 6 farklı görselleştirme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378561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Uçtan uca Bank Marketing projesi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Yarın: Keras Sequential API + EarlyStopping + Dropout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44279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1666</Words>
  <Application>Microsoft Office PowerPoint</Application>
  <PresentationFormat>Ekran Gösterisi (16:9)</PresentationFormat>
  <Paragraphs>358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 Cumartesi — Makine Öğrenmesi</dc:title>
  <dc:subject>PptxGenJS Presentation</dc:subject>
  <dc:creator>PptxGenJS</dc:creator>
  <cp:lastModifiedBy>lenovo3</cp:lastModifiedBy>
  <cp:revision>7</cp:revision>
  <dcterms:created xsi:type="dcterms:W3CDTF">2026-02-19T19:38:42Z</dcterms:created>
  <dcterms:modified xsi:type="dcterms:W3CDTF">2026-02-20T20:14:49Z</dcterms:modified>
</cp:coreProperties>
</file>